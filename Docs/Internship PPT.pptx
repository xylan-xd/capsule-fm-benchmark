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73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6577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1.png"/><Relationship Id="rId7"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drive.google.com/drive/folders/1XQCivGj5UsD78iUjcUe_vsKN8wfFq5zy?usp=sharing" TargetMode="External"/><Relationship Id="rId5" Type="http://schemas.openxmlformats.org/officeDocument/2006/relationships/hyperlink" Target="https://github.com/XylaN-xD/Endoscopic-lesion-localization" TargetMode="Externa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545"/>
          </a:solidFill>
          <a:ln w="12700">
            <a:solidFill>
              <a:srgbClr val="0D2545"/>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164592" y="91440"/>
            <a:ext cx="777240" cy="777240"/>
          </a:xfrm>
          <a:prstGeom prst="rect">
            <a:avLst/>
          </a:prstGeom>
        </p:spPr>
      </p:pic>
      <p:pic>
        <p:nvPicPr>
          <p:cNvPr id="4" name="Image 1" descr="preencoded.png"/>
          <p:cNvPicPr>
            <a:picLocks noChangeAspect="1"/>
          </p:cNvPicPr>
          <p:nvPr/>
        </p:nvPicPr>
        <p:blipFill>
          <a:blip r:embed="rId4"/>
          <a:stretch>
            <a:fillRect/>
          </a:stretch>
        </p:blipFill>
        <p:spPr>
          <a:xfrm>
            <a:off x="8229600" y="91440"/>
            <a:ext cx="777240" cy="777240"/>
          </a:xfrm>
          <a:prstGeom prst="rect">
            <a:avLst/>
          </a:prstGeom>
        </p:spPr>
      </p:pic>
      <p:sp>
        <p:nvSpPr>
          <p:cNvPr id="5" name="Shape 1"/>
          <p:cNvSpPr/>
          <p:nvPr/>
        </p:nvSpPr>
        <p:spPr>
          <a:xfrm>
            <a:off x="914400" y="1188720"/>
            <a:ext cx="7315200" cy="0"/>
          </a:xfrm>
          <a:prstGeom prst="line">
            <a:avLst/>
          </a:prstGeom>
          <a:noFill/>
          <a:ln w="25400">
            <a:solidFill>
              <a:srgbClr val="0E7490"/>
            </a:solidFill>
            <a:prstDash val="solid"/>
          </a:ln>
        </p:spPr>
        <p:txBody>
          <a:bodyPr/>
          <a:lstStyle/>
          <a:p>
            <a:endParaRPr lang="en-IN"/>
          </a:p>
        </p:txBody>
      </p:sp>
      <p:sp>
        <p:nvSpPr>
          <p:cNvPr id="6" name="Text 2"/>
          <p:cNvSpPr/>
          <p:nvPr/>
        </p:nvSpPr>
        <p:spPr>
          <a:xfrm>
            <a:off x="457200" y="1280160"/>
            <a:ext cx="8229600" cy="15544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Benchmarking Foundation Models for</a:t>
            </a:r>
            <a:endParaRPr lang="en-US" sz="2600" dirty="0"/>
          </a:p>
          <a:p>
            <a:pPr marL="0" indent="0" algn="ctr">
              <a:buNone/>
            </a:pPr>
            <a:r>
              <a:rPr lang="en-US" sz="2600" b="1" dirty="0">
                <a:solidFill>
                  <a:srgbClr val="FFFFFF"/>
                </a:solidFill>
                <a:latin typeface="Calibri" pitchFamily="34" charset="0"/>
                <a:ea typeface="Calibri" pitchFamily="34" charset="-122"/>
                <a:cs typeface="Calibri" pitchFamily="34" charset="-120"/>
              </a:rPr>
              <a:t>Capsule Endoscopy Lesion Detection</a:t>
            </a:r>
            <a:endParaRPr lang="en-US" sz="2600" dirty="0"/>
          </a:p>
          <a:p>
            <a:pPr marL="0" indent="0" algn="ctr">
              <a:buNone/>
            </a:pPr>
            <a:r>
              <a:rPr lang="en-US" sz="2600" b="1" dirty="0">
                <a:solidFill>
                  <a:srgbClr val="FFFFFF"/>
                </a:solidFill>
                <a:latin typeface="Calibri" pitchFamily="34" charset="0"/>
                <a:ea typeface="Calibri" pitchFamily="34" charset="-122"/>
                <a:cs typeface="Calibri" pitchFamily="34" charset="-120"/>
              </a:rPr>
              <a:t>and Segmentation using Vision-Language Models</a:t>
            </a:r>
            <a:endParaRPr lang="en-US" sz="2600" dirty="0"/>
          </a:p>
        </p:txBody>
      </p:sp>
      <p:sp>
        <p:nvSpPr>
          <p:cNvPr id="7" name="Shape 3"/>
          <p:cNvSpPr/>
          <p:nvPr/>
        </p:nvSpPr>
        <p:spPr>
          <a:xfrm>
            <a:off x="914400" y="2926080"/>
            <a:ext cx="7315200" cy="0"/>
          </a:xfrm>
          <a:prstGeom prst="line">
            <a:avLst/>
          </a:prstGeom>
          <a:noFill/>
          <a:ln w="12700">
            <a:solidFill>
              <a:srgbClr val="0E7490"/>
            </a:solidFill>
            <a:prstDash val="solid"/>
          </a:ln>
        </p:spPr>
        <p:txBody>
          <a:bodyPr/>
          <a:lstStyle/>
          <a:p>
            <a:endParaRPr lang="en-IN"/>
          </a:p>
        </p:txBody>
      </p:sp>
      <p:sp>
        <p:nvSpPr>
          <p:cNvPr id="8" name="Text 4"/>
          <p:cNvSpPr/>
          <p:nvPr/>
        </p:nvSpPr>
        <p:spPr>
          <a:xfrm>
            <a:off x="457200" y="3017520"/>
            <a:ext cx="822960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Neil Lohit Bose</a:t>
            </a:r>
            <a:r>
              <a:rPr lang="en-US" sz="1300" dirty="0">
                <a:solidFill>
                  <a:srgbClr val="94A3B8"/>
                </a:solidFill>
                <a:latin typeface="Calibri" pitchFamily="34" charset="0"/>
                <a:ea typeface="Calibri" pitchFamily="34" charset="-122"/>
                <a:cs typeface="Calibri" pitchFamily="34" charset="-120"/>
              </a:rPr>
              <a:t>  (MS Medical Technology, AIIMS-IIT J)</a:t>
            </a:r>
            <a:r>
              <a:rPr lang="en-US" sz="1300" dirty="0">
                <a:solidFill>
                  <a:srgbClr val="0E7490"/>
                </a:solidFill>
                <a:latin typeface="Calibri" pitchFamily="34" charset="0"/>
                <a:ea typeface="Calibri" pitchFamily="34" charset="-122"/>
                <a:cs typeface="Calibri" pitchFamily="34" charset="-120"/>
              </a:rPr>
              <a:t>     |     </a:t>
            </a:r>
            <a:r>
              <a:rPr lang="en-US" sz="1300" b="1" dirty="0">
                <a:solidFill>
                  <a:srgbClr val="FFFFFF"/>
                </a:solidFill>
                <a:latin typeface="Calibri" pitchFamily="34" charset="0"/>
                <a:ea typeface="Calibri" pitchFamily="34" charset="-122"/>
                <a:cs typeface="Calibri" pitchFamily="34" charset="-120"/>
              </a:rPr>
              <a:t>Ishan Jha</a:t>
            </a:r>
            <a:r>
              <a:rPr lang="en-US" sz="1300" dirty="0">
                <a:solidFill>
                  <a:srgbClr val="94A3B8"/>
                </a:solidFill>
                <a:latin typeface="Calibri" pitchFamily="34" charset="0"/>
                <a:ea typeface="Calibri" pitchFamily="34" charset="-122"/>
                <a:cs typeface="Calibri" pitchFamily="34" charset="-120"/>
              </a:rPr>
              <a:t>  (B.Tech CS, K.R Mangalam University)</a:t>
            </a:r>
            <a:endParaRPr lang="en-US" sz="1300" dirty="0"/>
          </a:p>
        </p:txBody>
      </p:sp>
      <p:sp>
        <p:nvSpPr>
          <p:cNvPr id="9" name="Text 5"/>
          <p:cNvSpPr/>
          <p:nvPr/>
        </p:nvSpPr>
        <p:spPr>
          <a:xfrm>
            <a:off x="457200" y="3474720"/>
            <a:ext cx="8229600" cy="320040"/>
          </a:xfrm>
          <a:prstGeom prst="rect">
            <a:avLst/>
          </a:prstGeom>
          <a:noFill/>
          <a:ln/>
        </p:spPr>
        <p:txBody>
          <a:bodyPr wrap="square" rtlCol="0" anchor="ctr"/>
          <a:lstStyle/>
          <a:p>
            <a:pPr marL="0" indent="0" algn="ctr">
              <a:buNone/>
            </a:pPr>
            <a:r>
              <a:rPr lang="en-US" sz="1300" i="1" dirty="0">
                <a:solidFill>
                  <a:srgbClr val="94A3B8"/>
                </a:solidFill>
                <a:latin typeface="Calibri" pitchFamily="34" charset="0"/>
                <a:ea typeface="Calibri" pitchFamily="34" charset="-122"/>
                <a:cs typeface="Calibri" pitchFamily="34" charset="-120"/>
              </a:rPr>
              <a:t>Project Guide: Dr. Sujoy K Biswas</a:t>
            </a:r>
            <a:endParaRPr lang="en-US" sz="1300" dirty="0"/>
          </a:p>
        </p:txBody>
      </p:sp>
      <p:sp>
        <p:nvSpPr>
          <p:cNvPr id="10" name="Text 6"/>
          <p:cNvSpPr/>
          <p:nvPr/>
        </p:nvSpPr>
        <p:spPr>
          <a:xfrm>
            <a:off x="457200" y="3840480"/>
            <a:ext cx="8229600" cy="274320"/>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Internship Period: 21 January 2026 – 31 March 2026</a:t>
            </a:r>
            <a:endParaRPr lang="en-US" sz="1100" dirty="0"/>
          </a:p>
        </p:txBody>
      </p:sp>
      <p:sp>
        <p:nvSpPr>
          <p:cNvPr id="11" name="Shape 7"/>
          <p:cNvSpPr/>
          <p:nvPr/>
        </p:nvSpPr>
        <p:spPr>
          <a:xfrm>
            <a:off x="0" y="4800600"/>
            <a:ext cx="9144000" cy="342900"/>
          </a:xfrm>
          <a:prstGeom prst="rect">
            <a:avLst/>
          </a:prstGeom>
          <a:solidFill>
            <a:srgbClr val="0E7490"/>
          </a:solidFill>
          <a:ln w="12700">
            <a:solidFill>
              <a:srgbClr val="0E7490"/>
            </a:solidFill>
            <a:prstDash val="solid"/>
          </a:ln>
        </p:spPr>
        <p:txBody>
          <a:bodyPr/>
          <a:lstStyle/>
          <a:p>
            <a:endParaRPr lang="en-IN" sz="1400" dirty="0">
              <a:solidFill>
                <a:schemeClr val="bg1"/>
              </a:solidFill>
            </a:endParaRPr>
          </a:p>
        </p:txBody>
      </p:sp>
      <p:sp>
        <p:nvSpPr>
          <p:cNvPr id="12" name="Text 8"/>
          <p:cNvSpPr/>
          <p:nvPr/>
        </p:nvSpPr>
        <p:spPr>
          <a:xfrm>
            <a:off x="182880" y="4800600"/>
            <a:ext cx="8778240" cy="34290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IDEAS — Institute of Data Engineering, Analytics and Science Foundation  |  ISI Kolkata</a:t>
            </a:r>
            <a:endParaRPr lang="en-US" sz="1000" dirty="0"/>
          </a:p>
        </p:txBody>
      </p:sp>
      <p:sp>
        <p:nvSpPr>
          <p:cNvPr id="14" name="TextBox 13">
            <a:extLst>
              <a:ext uri="{FF2B5EF4-FFF2-40B4-BE49-F238E27FC236}">
                <a16:creationId xmlns:a16="http://schemas.microsoft.com/office/drawing/2014/main" id="{14BD40A4-4A86-9695-11B5-297F965E7538}"/>
              </a:ext>
            </a:extLst>
          </p:cNvPr>
          <p:cNvSpPr txBox="1"/>
          <p:nvPr/>
        </p:nvSpPr>
        <p:spPr>
          <a:xfrm>
            <a:off x="4038964" y="14776"/>
            <a:ext cx="4579256" cy="307777"/>
          </a:xfrm>
          <a:prstGeom prst="rect">
            <a:avLst/>
          </a:prstGeom>
          <a:noFill/>
        </p:spPr>
        <p:txBody>
          <a:bodyPr wrap="square">
            <a:spAutoFit/>
          </a:bodyPr>
          <a:lstStyle/>
          <a:p>
            <a:r>
              <a:rPr lang="en-US" sz="1400" dirty="0">
                <a:solidFill>
                  <a:schemeClr val="bg1"/>
                </a:solidFill>
              </a:rPr>
              <a:t>Page 1</a:t>
            </a:r>
            <a:endParaRPr lang="en-IN" sz="14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545"/>
          </a:solidFill>
          <a:ln w="12700">
            <a:solidFill>
              <a:srgbClr val="0D2545"/>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164592" y="91440"/>
            <a:ext cx="777240" cy="777240"/>
          </a:xfrm>
          <a:prstGeom prst="rect">
            <a:avLst/>
          </a:prstGeom>
        </p:spPr>
      </p:pic>
      <p:pic>
        <p:nvPicPr>
          <p:cNvPr id="4" name="Image 1" descr="preencoded.png"/>
          <p:cNvPicPr>
            <a:picLocks noChangeAspect="1"/>
          </p:cNvPicPr>
          <p:nvPr/>
        </p:nvPicPr>
        <p:blipFill>
          <a:blip r:embed="rId4"/>
          <a:stretch>
            <a:fillRect/>
          </a:stretch>
        </p:blipFill>
        <p:spPr>
          <a:xfrm>
            <a:off x="8229600" y="91440"/>
            <a:ext cx="777240" cy="777240"/>
          </a:xfrm>
          <a:prstGeom prst="rect">
            <a:avLst/>
          </a:prstGeom>
        </p:spPr>
      </p:pic>
      <p:sp>
        <p:nvSpPr>
          <p:cNvPr id="5" name="Text 1"/>
          <p:cNvSpPr/>
          <p:nvPr/>
        </p:nvSpPr>
        <p:spPr>
          <a:xfrm>
            <a:off x="1097280" y="137160"/>
            <a:ext cx="694944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Abstract</a:t>
            </a:r>
            <a:endParaRPr lang="en-US" sz="2200" dirty="0"/>
          </a:p>
        </p:txBody>
      </p:sp>
      <p:sp>
        <p:nvSpPr>
          <p:cNvPr id="6" name="Shape 2"/>
          <p:cNvSpPr/>
          <p:nvPr/>
        </p:nvSpPr>
        <p:spPr>
          <a:xfrm>
            <a:off x="365760" y="1005840"/>
            <a:ext cx="8412480" cy="356616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IN"/>
          </a:p>
        </p:txBody>
      </p:sp>
      <p:sp>
        <p:nvSpPr>
          <p:cNvPr id="7" name="Shape 3"/>
          <p:cNvSpPr/>
          <p:nvPr/>
        </p:nvSpPr>
        <p:spPr>
          <a:xfrm>
            <a:off x="365760" y="1005840"/>
            <a:ext cx="64008" cy="3566160"/>
          </a:xfrm>
          <a:prstGeom prst="rect">
            <a:avLst/>
          </a:prstGeom>
          <a:solidFill>
            <a:srgbClr val="0E7490"/>
          </a:solidFill>
          <a:ln w="12700">
            <a:solidFill>
              <a:srgbClr val="0E7490"/>
            </a:solidFill>
            <a:prstDash val="solid"/>
          </a:ln>
        </p:spPr>
        <p:txBody>
          <a:bodyPr/>
          <a:lstStyle/>
          <a:p>
            <a:endParaRPr lang="en-IN"/>
          </a:p>
        </p:txBody>
      </p:sp>
      <p:sp>
        <p:nvSpPr>
          <p:cNvPr id="8" name="Text 4"/>
          <p:cNvSpPr/>
          <p:nvPr/>
        </p:nvSpPr>
        <p:spPr>
          <a:xfrm>
            <a:off x="548640" y="1097280"/>
            <a:ext cx="8046720" cy="3383280"/>
          </a:xfrm>
          <a:prstGeom prst="rect">
            <a:avLst/>
          </a:prstGeom>
          <a:noFill/>
          <a:ln/>
        </p:spPr>
        <p:txBody>
          <a:bodyPr wrap="square" rtlCol="0" anchor="t"/>
          <a:lstStyle/>
          <a:p>
            <a:pPr marL="0" indent="0" algn="l">
              <a:lnSpc>
                <a:spcPct val="120000"/>
              </a:lnSpc>
              <a:spcAft>
                <a:spcPts val="800"/>
              </a:spcAft>
              <a:buNone/>
            </a:pPr>
            <a:r>
              <a:rPr lang="en-US" sz="1300" dirty="0">
                <a:solidFill>
                  <a:srgbClr val="475569"/>
                </a:solidFill>
                <a:latin typeface="Calibri" pitchFamily="34" charset="0"/>
                <a:ea typeface="Calibri" pitchFamily="34" charset="-122"/>
                <a:cs typeface="Calibri" pitchFamily="34" charset="-120"/>
              </a:rPr>
              <a:t>This report presents a benchmark evaluation of pretrained foundation models for automated lesion detection and segmentation in capsule endoscopy videos. The study uses the Kvasir-Capsule dataset, focusing on four clinically significant lesion classes: Ulcer, Erosion, Blood-fresh, and Polyp.</a:t>
            </a:r>
            <a:endParaRPr lang="en-US" sz="1300" dirty="0"/>
          </a:p>
          <a:p>
            <a:pPr marL="0" indent="0" algn="l">
              <a:lnSpc>
                <a:spcPct val="120000"/>
              </a:lnSpc>
              <a:spcAft>
                <a:spcPts val="800"/>
              </a:spcAft>
              <a:buNone/>
            </a:pPr>
            <a:endParaRPr lang="en-US" sz="1300" dirty="0"/>
          </a:p>
          <a:p>
            <a:pPr marL="0" indent="0" algn="l">
              <a:lnSpc>
                <a:spcPct val="120000"/>
              </a:lnSpc>
              <a:spcAft>
                <a:spcPts val="800"/>
              </a:spcAft>
              <a:buNone/>
            </a:pPr>
            <a:r>
              <a:rPr lang="en-US" sz="1300" dirty="0">
                <a:solidFill>
                  <a:srgbClr val="475569"/>
                </a:solidFill>
                <a:latin typeface="Calibri" pitchFamily="34" charset="0"/>
                <a:ea typeface="Calibri" pitchFamily="34" charset="-122"/>
                <a:cs typeface="Calibri" pitchFamily="34" charset="-120"/>
              </a:rPr>
              <a:t>Off-the-shelf vision models including CLIP and BLIP-2 were evaluated, demonstrating severe domain shift when applied to capsule endoscopy imagery. MedSAM — a medical image segmentation foundation model — was benchmarked using ground truth bounding boxes as prompts.</a:t>
            </a:r>
            <a:endParaRPr lang="en-US" sz="1300" dirty="0"/>
          </a:p>
          <a:p>
            <a:pPr marL="0" indent="0" algn="l">
              <a:lnSpc>
                <a:spcPct val="120000"/>
              </a:lnSpc>
              <a:spcAft>
                <a:spcPts val="800"/>
              </a:spcAft>
              <a:buNone/>
            </a:pPr>
            <a:endParaRPr lang="en-US" sz="1300" dirty="0"/>
          </a:p>
          <a:p>
            <a:pPr marL="0" indent="0" algn="l">
              <a:lnSpc>
                <a:spcPct val="120000"/>
              </a:lnSpc>
              <a:spcAft>
                <a:spcPts val="800"/>
              </a:spcAft>
              <a:buNone/>
            </a:pPr>
            <a:r>
              <a:rPr lang="en-US" sz="1300" dirty="0">
                <a:solidFill>
                  <a:srgbClr val="475569"/>
                </a:solidFill>
                <a:latin typeface="Calibri" pitchFamily="34" charset="0"/>
                <a:ea typeface="Calibri" pitchFamily="34" charset="-122"/>
                <a:cs typeface="Calibri" pitchFamily="34" charset="-120"/>
              </a:rPr>
              <a:t>Results show pretrained MedSAM achieves a Mean IoU of 0.5101 and Mean Dice of 0.6152, with high precision but very low recall. These findings highlight the domain gap between general medical imaging and capsule endoscopy, justifying the need for domain-specific fine-tuning.</a:t>
            </a:r>
            <a:endParaRPr lang="en-US" sz="1300" dirty="0"/>
          </a:p>
        </p:txBody>
      </p:sp>
      <p:sp>
        <p:nvSpPr>
          <p:cNvPr id="9" name="Shape 5"/>
          <p:cNvSpPr/>
          <p:nvPr/>
        </p:nvSpPr>
        <p:spPr>
          <a:xfrm>
            <a:off x="365760" y="4663440"/>
            <a:ext cx="1965960" cy="365760"/>
          </a:xfrm>
          <a:prstGeom prst="rect">
            <a:avLst/>
          </a:prstGeom>
          <a:solidFill>
            <a:srgbClr val="0E7490"/>
          </a:solidFill>
          <a:ln w="12700">
            <a:solidFill>
              <a:srgbClr val="0E7490"/>
            </a:solidFill>
            <a:prstDash val="solid"/>
          </a:ln>
        </p:spPr>
        <p:txBody>
          <a:bodyPr/>
          <a:lstStyle/>
          <a:p>
            <a:endParaRPr lang="en-IN"/>
          </a:p>
        </p:txBody>
      </p:sp>
      <p:sp>
        <p:nvSpPr>
          <p:cNvPr id="10" name="Text 6"/>
          <p:cNvSpPr/>
          <p:nvPr/>
        </p:nvSpPr>
        <p:spPr>
          <a:xfrm>
            <a:off x="365760" y="4663440"/>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rPr>
              <a:t>0.5101  </a:t>
            </a:r>
            <a:r>
              <a:rPr lang="en-US" sz="1000" dirty="0">
                <a:solidFill>
                  <a:srgbClr val="CFFAFE"/>
                </a:solidFill>
              </a:rPr>
              <a:t>Mean IoU</a:t>
            </a:r>
            <a:endParaRPr lang="en-US" sz="1300" dirty="0"/>
          </a:p>
        </p:txBody>
      </p:sp>
      <p:sp>
        <p:nvSpPr>
          <p:cNvPr id="11" name="Shape 7"/>
          <p:cNvSpPr/>
          <p:nvPr/>
        </p:nvSpPr>
        <p:spPr>
          <a:xfrm>
            <a:off x="2468880" y="4663440"/>
            <a:ext cx="1965960" cy="365760"/>
          </a:xfrm>
          <a:prstGeom prst="rect">
            <a:avLst/>
          </a:prstGeom>
          <a:solidFill>
            <a:srgbClr val="0E7490"/>
          </a:solidFill>
          <a:ln w="12700">
            <a:solidFill>
              <a:srgbClr val="0E7490"/>
            </a:solidFill>
            <a:prstDash val="solid"/>
          </a:ln>
        </p:spPr>
        <p:txBody>
          <a:bodyPr/>
          <a:lstStyle/>
          <a:p>
            <a:endParaRPr lang="en-IN"/>
          </a:p>
        </p:txBody>
      </p:sp>
      <p:sp>
        <p:nvSpPr>
          <p:cNvPr id="12" name="Text 8"/>
          <p:cNvSpPr/>
          <p:nvPr/>
        </p:nvSpPr>
        <p:spPr>
          <a:xfrm>
            <a:off x="2468880" y="4663440"/>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rPr>
              <a:t>0.6152  </a:t>
            </a:r>
            <a:r>
              <a:rPr lang="en-US" sz="1000" dirty="0">
                <a:solidFill>
                  <a:srgbClr val="CFFAFE"/>
                </a:solidFill>
              </a:rPr>
              <a:t>Mean Dice</a:t>
            </a:r>
            <a:endParaRPr lang="en-US" sz="1300" dirty="0"/>
          </a:p>
        </p:txBody>
      </p:sp>
      <p:sp>
        <p:nvSpPr>
          <p:cNvPr id="13" name="Shape 9"/>
          <p:cNvSpPr/>
          <p:nvPr/>
        </p:nvSpPr>
        <p:spPr>
          <a:xfrm>
            <a:off x="4572000" y="4663440"/>
            <a:ext cx="1965960" cy="365760"/>
          </a:xfrm>
          <a:prstGeom prst="rect">
            <a:avLst/>
          </a:prstGeom>
          <a:solidFill>
            <a:srgbClr val="0E7490"/>
          </a:solidFill>
          <a:ln w="12700">
            <a:solidFill>
              <a:srgbClr val="0E7490"/>
            </a:solidFill>
            <a:prstDash val="solid"/>
          </a:ln>
        </p:spPr>
        <p:txBody>
          <a:bodyPr/>
          <a:lstStyle/>
          <a:p>
            <a:endParaRPr lang="en-IN"/>
          </a:p>
        </p:txBody>
      </p:sp>
      <p:sp>
        <p:nvSpPr>
          <p:cNvPr id="14" name="Text 10"/>
          <p:cNvSpPr/>
          <p:nvPr/>
        </p:nvSpPr>
        <p:spPr>
          <a:xfrm>
            <a:off x="4572000" y="4663440"/>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rPr>
              <a:t>4 Classes  </a:t>
            </a:r>
            <a:r>
              <a:rPr lang="en-US" sz="1000" dirty="0">
                <a:solidFill>
                  <a:srgbClr val="CFFAFE"/>
                </a:solidFill>
              </a:rPr>
              <a:t>Evaluated</a:t>
            </a:r>
            <a:endParaRPr lang="en-US" sz="1300" dirty="0"/>
          </a:p>
        </p:txBody>
      </p:sp>
      <p:sp>
        <p:nvSpPr>
          <p:cNvPr id="15" name="Shape 11"/>
          <p:cNvSpPr/>
          <p:nvPr/>
        </p:nvSpPr>
        <p:spPr>
          <a:xfrm>
            <a:off x="6675120" y="4663440"/>
            <a:ext cx="1965960" cy="365760"/>
          </a:xfrm>
          <a:prstGeom prst="rect">
            <a:avLst/>
          </a:prstGeom>
          <a:solidFill>
            <a:srgbClr val="0E7490"/>
          </a:solidFill>
          <a:ln w="12700">
            <a:solidFill>
              <a:srgbClr val="0E7490"/>
            </a:solidFill>
            <a:prstDash val="solid"/>
          </a:ln>
        </p:spPr>
        <p:txBody>
          <a:bodyPr/>
          <a:lstStyle/>
          <a:p>
            <a:endParaRPr lang="en-IN"/>
          </a:p>
        </p:txBody>
      </p:sp>
      <p:sp>
        <p:nvSpPr>
          <p:cNvPr id="16" name="Text 12"/>
          <p:cNvSpPr/>
          <p:nvPr/>
        </p:nvSpPr>
        <p:spPr>
          <a:xfrm>
            <a:off x="6675120" y="4663440"/>
            <a:ext cx="1965960" cy="365760"/>
          </a:xfrm>
          <a:prstGeom prst="rect">
            <a:avLst/>
          </a:prstGeom>
          <a:noFill/>
          <a:ln/>
        </p:spPr>
        <p:txBody>
          <a:bodyPr wrap="square" lIns="0" tIns="0" rIns="0" bIns="0" rtlCol="0" anchor="ctr"/>
          <a:lstStyle/>
          <a:p>
            <a:pPr marL="0" indent="0" algn="ctr">
              <a:buNone/>
            </a:pPr>
            <a:r>
              <a:rPr lang="en-US" sz="1300" b="1" dirty="0">
                <a:solidFill>
                  <a:srgbClr val="FFFFFF"/>
                </a:solidFill>
              </a:rPr>
              <a:t>1,862  </a:t>
            </a:r>
            <a:r>
              <a:rPr lang="en-US" sz="1000" dirty="0">
                <a:solidFill>
                  <a:srgbClr val="CFFAFE"/>
                </a:solidFill>
              </a:rPr>
              <a:t>Annotated Frames</a:t>
            </a:r>
            <a:endParaRPr lang="en-US" sz="1300" dirty="0"/>
          </a:p>
        </p:txBody>
      </p:sp>
      <p:sp>
        <p:nvSpPr>
          <p:cNvPr id="20" name="TextBox 19">
            <a:extLst>
              <a:ext uri="{FF2B5EF4-FFF2-40B4-BE49-F238E27FC236}">
                <a16:creationId xmlns:a16="http://schemas.microsoft.com/office/drawing/2014/main" id="{D21BD64E-5D36-3134-3D5A-7589E37641BC}"/>
              </a:ext>
            </a:extLst>
          </p:cNvPr>
          <p:cNvSpPr txBox="1"/>
          <p:nvPr/>
        </p:nvSpPr>
        <p:spPr>
          <a:xfrm>
            <a:off x="4038964" y="14776"/>
            <a:ext cx="4579256" cy="307777"/>
          </a:xfrm>
          <a:prstGeom prst="rect">
            <a:avLst/>
          </a:prstGeom>
          <a:noFill/>
        </p:spPr>
        <p:txBody>
          <a:bodyPr wrap="square">
            <a:spAutoFit/>
          </a:bodyPr>
          <a:lstStyle/>
          <a:p>
            <a:r>
              <a:rPr lang="en-US" sz="1400" dirty="0">
                <a:solidFill>
                  <a:schemeClr val="bg1"/>
                </a:solidFill>
              </a:rPr>
              <a:t>Page 2</a:t>
            </a:r>
            <a:endParaRPr lang="en-IN" sz="14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545"/>
          </a:solidFill>
          <a:ln w="12700">
            <a:solidFill>
              <a:srgbClr val="0D2545"/>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164592" y="91440"/>
            <a:ext cx="777240" cy="777240"/>
          </a:xfrm>
          <a:prstGeom prst="rect">
            <a:avLst/>
          </a:prstGeom>
        </p:spPr>
      </p:pic>
      <p:pic>
        <p:nvPicPr>
          <p:cNvPr id="4" name="Image 1" descr="preencoded.png"/>
          <p:cNvPicPr>
            <a:picLocks noChangeAspect="1"/>
          </p:cNvPicPr>
          <p:nvPr/>
        </p:nvPicPr>
        <p:blipFill>
          <a:blip r:embed="rId4"/>
          <a:stretch>
            <a:fillRect/>
          </a:stretch>
        </p:blipFill>
        <p:spPr>
          <a:xfrm>
            <a:off x="8229600" y="91440"/>
            <a:ext cx="777240" cy="777240"/>
          </a:xfrm>
          <a:prstGeom prst="rect">
            <a:avLst/>
          </a:prstGeom>
        </p:spPr>
      </p:pic>
      <p:sp>
        <p:nvSpPr>
          <p:cNvPr id="5" name="Text 1"/>
          <p:cNvSpPr/>
          <p:nvPr/>
        </p:nvSpPr>
        <p:spPr>
          <a:xfrm>
            <a:off x="1097280" y="137160"/>
            <a:ext cx="694944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Introduction &amp; Background</a:t>
            </a:r>
            <a:endParaRPr lang="en-US" sz="2200" dirty="0"/>
          </a:p>
        </p:txBody>
      </p:sp>
      <p:sp>
        <p:nvSpPr>
          <p:cNvPr id="6" name="Shape 2"/>
          <p:cNvSpPr/>
          <p:nvPr/>
        </p:nvSpPr>
        <p:spPr>
          <a:xfrm>
            <a:off x="274320" y="1005840"/>
            <a:ext cx="4114800" cy="393192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IN"/>
          </a:p>
        </p:txBody>
      </p:sp>
      <p:sp>
        <p:nvSpPr>
          <p:cNvPr id="7" name="Shape 3"/>
          <p:cNvSpPr/>
          <p:nvPr/>
        </p:nvSpPr>
        <p:spPr>
          <a:xfrm>
            <a:off x="274320" y="1005840"/>
            <a:ext cx="64008" cy="3931920"/>
          </a:xfrm>
          <a:prstGeom prst="rect">
            <a:avLst/>
          </a:prstGeom>
          <a:solidFill>
            <a:srgbClr val="F59E0B"/>
          </a:solidFill>
          <a:ln w="12700">
            <a:solidFill>
              <a:srgbClr val="F59E0B"/>
            </a:solidFill>
            <a:prstDash val="solid"/>
          </a:ln>
        </p:spPr>
        <p:txBody>
          <a:bodyPr/>
          <a:lstStyle/>
          <a:p>
            <a:endParaRPr lang="en-IN"/>
          </a:p>
        </p:txBody>
      </p:sp>
      <p:sp>
        <p:nvSpPr>
          <p:cNvPr id="8" name="Text 4"/>
          <p:cNvSpPr/>
          <p:nvPr/>
        </p:nvSpPr>
        <p:spPr>
          <a:xfrm>
            <a:off x="457200" y="1051560"/>
            <a:ext cx="3840480" cy="411480"/>
          </a:xfrm>
          <a:prstGeom prst="rect">
            <a:avLst/>
          </a:prstGeom>
          <a:noFill/>
          <a:ln/>
        </p:spPr>
        <p:txBody>
          <a:bodyPr wrap="square" rtlCol="0" anchor="ctr"/>
          <a:lstStyle/>
          <a:p>
            <a:pPr marL="0" indent="0">
              <a:buNone/>
            </a:pPr>
            <a:r>
              <a:rPr lang="en-US" sz="1500" b="1" dirty="0">
                <a:solidFill>
                  <a:srgbClr val="0D2545"/>
                </a:solidFill>
                <a:latin typeface="Calibri" pitchFamily="34" charset="0"/>
                <a:ea typeface="Calibri" pitchFamily="34" charset="-122"/>
                <a:cs typeface="Calibri" pitchFamily="34" charset="-120"/>
              </a:rPr>
              <a:t>Capsule Endoscopy</a:t>
            </a:r>
            <a:endParaRPr lang="en-US" sz="1500" dirty="0"/>
          </a:p>
        </p:txBody>
      </p:sp>
      <p:sp>
        <p:nvSpPr>
          <p:cNvPr id="9" name="Text 5"/>
          <p:cNvSpPr/>
          <p:nvPr/>
        </p:nvSpPr>
        <p:spPr>
          <a:xfrm>
            <a:off x="457200" y="1508760"/>
            <a:ext cx="3840480" cy="3291840"/>
          </a:xfrm>
          <a:prstGeom prst="rect">
            <a:avLst/>
          </a:prstGeom>
          <a:noFill/>
          <a:ln/>
        </p:spPr>
        <p:txBody>
          <a:bodyPr wrap="square" rtlCol="0" anchor="ctr"/>
          <a:lstStyle/>
          <a:p>
            <a:pPr marL="0" indent="0">
              <a:lnSpc>
                <a:spcPct val="125000"/>
              </a:lnSpc>
              <a:buNone/>
            </a:pPr>
            <a:r>
              <a:rPr lang="en-US" sz="1200" dirty="0">
                <a:solidFill>
                  <a:srgbClr val="475569"/>
                </a:solidFill>
                <a:latin typeface="Calibri" pitchFamily="34" charset="0"/>
                <a:ea typeface="Calibri" pitchFamily="34" charset="-122"/>
                <a:cs typeface="Calibri" pitchFamily="34" charset="-120"/>
              </a:rPr>
              <a:t>A non-invasive procedure where a patient swallows a camera-equipped capsule that travels through the GI tract, capturing thousands of images over several hours.</a:t>
            </a:r>
            <a:endParaRPr lang="en-US" sz="1200" dirty="0"/>
          </a:p>
          <a:p>
            <a:pPr marL="0" indent="0">
              <a:lnSpc>
                <a:spcPct val="125000"/>
              </a:lnSpc>
              <a:buNone/>
            </a:pPr>
            <a:endParaRPr lang="en-US" sz="1200" dirty="0"/>
          </a:p>
          <a:p>
            <a:pPr marL="0" indent="0">
              <a:lnSpc>
                <a:spcPct val="125000"/>
              </a:lnSpc>
              <a:buNone/>
            </a:pPr>
            <a:r>
              <a:rPr lang="en-US" sz="1200" dirty="0">
                <a:solidFill>
                  <a:srgbClr val="475569"/>
                </a:solidFill>
                <a:latin typeface="Calibri" pitchFamily="34" charset="0"/>
                <a:ea typeface="Calibri" pitchFamily="34" charset="-122"/>
                <a:cs typeface="Calibri" pitchFamily="34" charset="-120"/>
              </a:rPr>
              <a:t>• Manual review is time-consuming and error-prone</a:t>
            </a:r>
            <a:endParaRPr lang="en-US" sz="1200" dirty="0"/>
          </a:p>
          <a:p>
            <a:pPr marL="0" indent="0">
              <a:lnSpc>
                <a:spcPct val="125000"/>
              </a:lnSpc>
              <a:buNone/>
            </a:pPr>
            <a:r>
              <a:rPr lang="en-US" sz="1200" dirty="0">
                <a:solidFill>
                  <a:srgbClr val="475569"/>
                </a:solidFill>
                <a:latin typeface="Calibri" pitchFamily="34" charset="0"/>
                <a:ea typeface="Calibri" pitchFamily="34" charset="-122"/>
                <a:cs typeface="Calibri" pitchFamily="34" charset="-120"/>
              </a:rPr>
              <a:t>• AI-assisted detection systems are essential</a:t>
            </a:r>
            <a:endParaRPr lang="en-US" sz="1200" dirty="0"/>
          </a:p>
          <a:p>
            <a:pPr marL="0" indent="0">
              <a:lnSpc>
                <a:spcPct val="125000"/>
              </a:lnSpc>
              <a:buNone/>
            </a:pPr>
            <a:r>
              <a:rPr lang="en-US" sz="1200" dirty="0">
                <a:solidFill>
                  <a:srgbClr val="475569"/>
                </a:solidFill>
                <a:latin typeface="Calibri" pitchFamily="34" charset="0"/>
                <a:ea typeface="Calibri" pitchFamily="34" charset="-122"/>
                <a:cs typeface="Calibri" pitchFamily="34" charset="-120"/>
              </a:rPr>
              <a:t>• Kvasir-Capsule: 117 labelled videos, 4.7M+ frames, 14 finding classes</a:t>
            </a:r>
            <a:endParaRPr lang="en-US" sz="1200" dirty="0"/>
          </a:p>
          <a:p>
            <a:pPr marL="0" indent="0">
              <a:lnSpc>
                <a:spcPct val="125000"/>
              </a:lnSpc>
              <a:buNone/>
            </a:pPr>
            <a:r>
              <a:rPr lang="en-US" sz="1200" dirty="0">
                <a:solidFill>
                  <a:srgbClr val="475569"/>
                </a:solidFill>
                <a:latin typeface="Calibri" pitchFamily="34" charset="0"/>
                <a:ea typeface="Calibri" pitchFamily="34" charset="-122"/>
                <a:cs typeface="Calibri" pitchFamily="34" charset="-120"/>
              </a:rPr>
              <a:t>• This project: 4 critical classes — Ulcer, Erosion, Blood-fresh, Polyp</a:t>
            </a:r>
            <a:endParaRPr lang="en-US" sz="1200" dirty="0"/>
          </a:p>
          <a:p>
            <a:pPr marL="0" indent="0">
              <a:lnSpc>
                <a:spcPct val="125000"/>
              </a:lnSpc>
              <a:buNone/>
            </a:pPr>
            <a:r>
              <a:rPr lang="en-US" sz="1200" dirty="0">
                <a:solidFill>
                  <a:srgbClr val="475569"/>
                </a:solidFill>
                <a:latin typeface="Calibri" pitchFamily="34" charset="0"/>
                <a:ea typeface="Calibri" pitchFamily="34" charset="-122"/>
                <a:cs typeface="Calibri" pitchFamily="34" charset="-120"/>
              </a:rPr>
              <a:t>• 14 labelled videos, 1,862 annotated frames</a:t>
            </a:r>
            <a:endParaRPr lang="en-US" sz="1200" dirty="0"/>
          </a:p>
        </p:txBody>
      </p:sp>
      <p:sp>
        <p:nvSpPr>
          <p:cNvPr id="10" name="Shape 6"/>
          <p:cNvSpPr/>
          <p:nvPr/>
        </p:nvSpPr>
        <p:spPr>
          <a:xfrm>
            <a:off x="4663440" y="1005840"/>
            <a:ext cx="4206240" cy="2011680"/>
          </a:xfrm>
          <a:prstGeom prst="rect">
            <a:avLst/>
          </a:prstGeom>
          <a:solidFill>
            <a:srgbClr val="E2E8F0"/>
          </a:solidFill>
          <a:ln w="12700">
            <a:solidFill>
              <a:srgbClr val="94A3B8"/>
            </a:solidFill>
            <a:prstDash val="solid"/>
          </a:ln>
        </p:spPr>
        <p:txBody>
          <a:bodyPr/>
          <a:lstStyle/>
          <a:p>
            <a:endParaRPr lang="en-IN"/>
          </a:p>
        </p:txBody>
      </p:sp>
      <p:sp>
        <p:nvSpPr>
          <p:cNvPr id="11" name="Text 7"/>
          <p:cNvSpPr/>
          <p:nvPr/>
        </p:nvSpPr>
        <p:spPr>
          <a:xfrm>
            <a:off x="4663440" y="1005840"/>
            <a:ext cx="4206240" cy="2011680"/>
          </a:xfrm>
          <a:prstGeom prst="rect">
            <a:avLst/>
          </a:prstGeom>
          <a:noFill/>
          <a:ln/>
        </p:spPr>
        <p:txBody>
          <a:bodyPr wrap="square"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 IMAGE PLACEHOLDER ]</a:t>
            </a:r>
            <a:endParaRPr lang="en-US" sz="1100" dirty="0"/>
          </a:p>
          <a:p>
            <a:pPr marL="0" indent="0" algn="ctr">
              <a:buNone/>
            </a:pPr>
            <a:r>
              <a:rPr lang="en-US" sz="1100" i="1" dirty="0">
                <a:solidFill>
                  <a:srgbClr val="94A3B8"/>
                </a:solidFill>
                <a:latin typeface="Calibri" pitchFamily="34" charset="0"/>
                <a:ea typeface="Calibri" pitchFamily="34" charset="-122"/>
                <a:cs typeface="Calibri" pitchFamily="34" charset="-120"/>
              </a:rPr>
              <a:t>Capsule Endoscopy Procedure Diagram</a:t>
            </a:r>
            <a:endParaRPr lang="en-US" sz="1100" dirty="0"/>
          </a:p>
          <a:p>
            <a:pPr marL="0" indent="0" algn="ctr">
              <a:buNone/>
            </a:pPr>
            <a:r>
              <a:rPr lang="en-US" sz="1100" i="1" dirty="0">
                <a:solidFill>
                  <a:srgbClr val="94A3B8"/>
                </a:solidFill>
                <a:latin typeface="Calibri" pitchFamily="34" charset="0"/>
                <a:ea typeface="Calibri" pitchFamily="34" charset="-122"/>
                <a:cs typeface="Calibri" pitchFamily="34" charset="-120"/>
              </a:rPr>
              <a:t>or sample Kvasir-Capsule frames</a:t>
            </a:r>
            <a:endParaRPr lang="en-US" sz="1100" dirty="0"/>
          </a:p>
        </p:txBody>
      </p:sp>
      <p:sp>
        <p:nvSpPr>
          <p:cNvPr id="12" name="Shape 8"/>
          <p:cNvSpPr/>
          <p:nvPr/>
        </p:nvSpPr>
        <p:spPr>
          <a:xfrm>
            <a:off x="4663440" y="3108960"/>
            <a:ext cx="4206240" cy="182880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IN"/>
          </a:p>
        </p:txBody>
      </p:sp>
      <p:sp>
        <p:nvSpPr>
          <p:cNvPr id="13" name="Shape 9"/>
          <p:cNvSpPr/>
          <p:nvPr/>
        </p:nvSpPr>
        <p:spPr>
          <a:xfrm>
            <a:off x="4663440" y="3108960"/>
            <a:ext cx="64008" cy="1828800"/>
          </a:xfrm>
          <a:prstGeom prst="rect">
            <a:avLst/>
          </a:prstGeom>
          <a:solidFill>
            <a:srgbClr val="0E7490"/>
          </a:solidFill>
          <a:ln w="12700">
            <a:solidFill>
              <a:srgbClr val="0E7490"/>
            </a:solidFill>
            <a:prstDash val="solid"/>
          </a:ln>
        </p:spPr>
        <p:txBody>
          <a:bodyPr/>
          <a:lstStyle/>
          <a:p>
            <a:endParaRPr lang="en-IN"/>
          </a:p>
        </p:txBody>
      </p:sp>
      <p:sp>
        <p:nvSpPr>
          <p:cNvPr id="14" name="Text 10"/>
          <p:cNvSpPr/>
          <p:nvPr/>
        </p:nvSpPr>
        <p:spPr>
          <a:xfrm>
            <a:off x="4846320" y="3154680"/>
            <a:ext cx="3840480" cy="365760"/>
          </a:xfrm>
          <a:prstGeom prst="rect">
            <a:avLst/>
          </a:prstGeom>
          <a:noFill/>
          <a:ln/>
        </p:spPr>
        <p:txBody>
          <a:bodyPr wrap="square" rtlCol="0" anchor="ctr"/>
          <a:lstStyle/>
          <a:p>
            <a:pPr marL="0" indent="0">
              <a:buNone/>
            </a:pPr>
            <a:r>
              <a:rPr lang="en-US" sz="1300" b="1" dirty="0">
                <a:solidFill>
                  <a:srgbClr val="0D2545"/>
                </a:solidFill>
                <a:latin typeface="Calibri" pitchFamily="34" charset="0"/>
                <a:ea typeface="Calibri" pitchFamily="34" charset="-122"/>
                <a:cs typeface="Calibri" pitchFamily="34" charset="-120"/>
              </a:rPr>
              <a:t>Foundation Models Evaluated</a:t>
            </a:r>
            <a:endParaRPr lang="en-US" sz="1300" dirty="0"/>
          </a:p>
        </p:txBody>
      </p:sp>
      <p:sp>
        <p:nvSpPr>
          <p:cNvPr id="15" name="Text 11"/>
          <p:cNvSpPr/>
          <p:nvPr/>
        </p:nvSpPr>
        <p:spPr>
          <a:xfrm>
            <a:off x="4846320" y="3566160"/>
            <a:ext cx="3840480" cy="1280160"/>
          </a:xfrm>
          <a:prstGeom prst="rect">
            <a:avLst/>
          </a:prstGeom>
          <a:noFill/>
          <a:ln/>
        </p:spPr>
        <p:txBody>
          <a:bodyPr wrap="square" rtlCol="0" anchor="ctr"/>
          <a:lstStyle/>
          <a:p>
            <a:pPr marL="0" indent="0">
              <a:lnSpc>
                <a:spcPct val="120000"/>
              </a:lnSpc>
              <a:buNone/>
            </a:pPr>
            <a:r>
              <a:rPr lang="en-US" sz="1200" dirty="0">
                <a:solidFill>
                  <a:srgbClr val="475569"/>
                </a:solidFill>
                <a:latin typeface="Calibri" pitchFamily="34" charset="0"/>
                <a:ea typeface="Calibri" pitchFamily="34" charset="-122"/>
                <a:cs typeface="Calibri" pitchFamily="34" charset="-120"/>
              </a:rPr>
              <a:t>• CLIP (OpenAI) — Zero-shot classification</a:t>
            </a:r>
            <a:endParaRPr lang="en-US" sz="1200" dirty="0"/>
          </a:p>
          <a:p>
            <a:pPr marL="0" indent="0">
              <a:lnSpc>
                <a:spcPct val="120000"/>
              </a:lnSpc>
              <a:buNone/>
            </a:pPr>
            <a:r>
              <a:rPr lang="en-US" sz="1200" dirty="0">
                <a:solidFill>
                  <a:srgbClr val="475569"/>
                </a:solidFill>
                <a:latin typeface="Calibri" pitchFamily="34" charset="0"/>
                <a:ea typeface="Calibri" pitchFamily="34" charset="-122"/>
                <a:cs typeface="Calibri" pitchFamily="34" charset="-120"/>
              </a:rPr>
              <a:t>• BLIP-2 (Salesforce) — Visual QA</a:t>
            </a:r>
            <a:endParaRPr lang="en-US" sz="1200" dirty="0"/>
          </a:p>
          <a:p>
            <a:pPr marL="0" indent="0">
              <a:lnSpc>
                <a:spcPct val="120000"/>
              </a:lnSpc>
              <a:buNone/>
            </a:pPr>
            <a:r>
              <a:rPr lang="en-US" sz="1200" dirty="0">
                <a:solidFill>
                  <a:srgbClr val="475569"/>
                </a:solidFill>
                <a:latin typeface="Calibri" pitchFamily="34" charset="0"/>
                <a:ea typeface="Calibri" pitchFamily="34" charset="-122"/>
                <a:cs typeface="Calibri" pitchFamily="34" charset="-120"/>
              </a:rPr>
              <a:t>• LLaVA 1.5 7B — Multimodal reasoning</a:t>
            </a:r>
            <a:endParaRPr lang="en-US" sz="1200" dirty="0"/>
          </a:p>
          <a:p>
            <a:pPr marL="0" indent="0">
              <a:lnSpc>
                <a:spcPct val="120000"/>
              </a:lnSpc>
              <a:buNone/>
            </a:pPr>
            <a:r>
              <a:rPr lang="en-US" sz="1200" dirty="0">
                <a:solidFill>
                  <a:srgbClr val="475569"/>
                </a:solidFill>
                <a:latin typeface="Calibri" pitchFamily="34" charset="0"/>
                <a:ea typeface="Calibri" pitchFamily="34" charset="-122"/>
                <a:cs typeface="Calibri" pitchFamily="34" charset="-120"/>
              </a:rPr>
              <a:t>• MedSAM — Medical segmentation (primary benchmark)</a:t>
            </a:r>
            <a:endParaRPr lang="en-US" sz="1200" dirty="0"/>
          </a:p>
          <a:p>
            <a:pPr marL="0" indent="0">
              <a:lnSpc>
                <a:spcPct val="120000"/>
              </a:lnSpc>
              <a:buNone/>
            </a:pPr>
            <a:r>
              <a:rPr lang="en-US" sz="1200" dirty="0">
                <a:solidFill>
                  <a:srgbClr val="475569"/>
                </a:solidFill>
                <a:latin typeface="Calibri" pitchFamily="34" charset="0"/>
                <a:ea typeface="Calibri" pitchFamily="34" charset="-122"/>
                <a:cs typeface="Calibri" pitchFamily="34" charset="-120"/>
              </a:rPr>
              <a:t>• SAM (Segment Anything Model) — baseline</a:t>
            </a:r>
            <a:endParaRPr lang="en-US" sz="1200" dirty="0"/>
          </a:p>
        </p:txBody>
      </p:sp>
      <p:pic>
        <p:nvPicPr>
          <p:cNvPr id="25" name="Picture 24">
            <a:extLst>
              <a:ext uri="{FF2B5EF4-FFF2-40B4-BE49-F238E27FC236}">
                <a16:creationId xmlns:a16="http://schemas.microsoft.com/office/drawing/2014/main" id="{0E1A1B47-82CF-160B-BDF2-40E6EAFD4E8E}"/>
              </a:ext>
            </a:extLst>
          </p:cNvPr>
          <p:cNvPicPr>
            <a:picLocks noChangeAspect="1"/>
          </p:cNvPicPr>
          <p:nvPr/>
        </p:nvPicPr>
        <p:blipFill>
          <a:blip r:embed="rId5"/>
          <a:stretch>
            <a:fillRect/>
          </a:stretch>
        </p:blipFill>
        <p:spPr>
          <a:xfrm>
            <a:off x="4663440" y="1005840"/>
            <a:ext cx="4206240" cy="2011680"/>
          </a:xfrm>
          <a:prstGeom prst="rect">
            <a:avLst/>
          </a:prstGeom>
        </p:spPr>
      </p:pic>
      <p:sp>
        <p:nvSpPr>
          <p:cNvPr id="16" name="TextBox 15">
            <a:extLst>
              <a:ext uri="{FF2B5EF4-FFF2-40B4-BE49-F238E27FC236}">
                <a16:creationId xmlns:a16="http://schemas.microsoft.com/office/drawing/2014/main" id="{D5D56305-0020-5939-F2BE-0428C5A1DD28}"/>
              </a:ext>
            </a:extLst>
          </p:cNvPr>
          <p:cNvSpPr txBox="1"/>
          <p:nvPr/>
        </p:nvSpPr>
        <p:spPr>
          <a:xfrm>
            <a:off x="4038964" y="14776"/>
            <a:ext cx="4579256" cy="307777"/>
          </a:xfrm>
          <a:prstGeom prst="rect">
            <a:avLst/>
          </a:prstGeom>
          <a:noFill/>
        </p:spPr>
        <p:txBody>
          <a:bodyPr wrap="square">
            <a:spAutoFit/>
          </a:bodyPr>
          <a:lstStyle/>
          <a:p>
            <a:r>
              <a:rPr lang="en-US" sz="1400" dirty="0">
                <a:solidFill>
                  <a:schemeClr val="bg1"/>
                </a:solidFill>
              </a:rPr>
              <a:t>Page 3</a:t>
            </a:r>
            <a:endParaRPr lang="en-IN" sz="14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545"/>
          </a:solidFill>
          <a:ln w="12700">
            <a:solidFill>
              <a:srgbClr val="0D2545"/>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164592" y="91440"/>
            <a:ext cx="777240" cy="777240"/>
          </a:xfrm>
          <a:prstGeom prst="rect">
            <a:avLst/>
          </a:prstGeom>
        </p:spPr>
      </p:pic>
      <p:pic>
        <p:nvPicPr>
          <p:cNvPr id="4" name="Image 1" descr="preencoded.png"/>
          <p:cNvPicPr>
            <a:picLocks noChangeAspect="1"/>
          </p:cNvPicPr>
          <p:nvPr/>
        </p:nvPicPr>
        <p:blipFill>
          <a:blip r:embed="rId4"/>
          <a:stretch>
            <a:fillRect/>
          </a:stretch>
        </p:blipFill>
        <p:spPr>
          <a:xfrm>
            <a:off x="8229600" y="91440"/>
            <a:ext cx="777240" cy="777240"/>
          </a:xfrm>
          <a:prstGeom prst="rect">
            <a:avLst/>
          </a:prstGeom>
        </p:spPr>
      </p:pic>
      <p:sp>
        <p:nvSpPr>
          <p:cNvPr id="5" name="Text 1"/>
          <p:cNvSpPr/>
          <p:nvPr/>
        </p:nvSpPr>
        <p:spPr>
          <a:xfrm>
            <a:off x="1097280" y="137160"/>
            <a:ext cx="694944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Project Objectives</a:t>
            </a:r>
            <a:endParaRPr lang="en-US" sz="2200" dirty="0"/>
          </a:p>
        </p:txBody>
      </p:sp>
      <p:sp>
        <p:nvSpPr>
          <p:cNvPr id="6" name="Shape 2"/>
          <p:cNvSpPr/>
          <p:nvPr/>
        </p:nvSpPr>
        <p:spPr>
          <a:xfrm>
            <a:off x="274320" y="1005840"/>
            <a:ext cx="4251960" cy="1188720"/>
          </a:xfrm>
          <a:prstGeom prst="rect">
            <a:avLst/>
          </a:prstGeom>
          <a:solidFill>
            <a:srgbClr val="1E3A5F"/>
          </a:solidFill>
          <a:ln w="12700">
            <a:solidFill>
              <a:srgbClr val="0E7490"/>
            </a:solidFill>
            <a:prstDash val="solid"/>
          </a:ln>
        </p:spPr>
        <p:txBody>
          <a:bodyPr/>
          <a:lstStyle/>
          <a:p>
            <a:endParaRPr lang="en-IN"/>
          </a:p>
        </p:txBody>
      </p:sp>
      <p:sp>
        <p:nvSpPr>
          <p:cNvPr id="7" name="Shape 3"/>
          <p:cNvSpPr/>
          <p:nvPr/>
        </p:nvSpPr>
        <p:spPr>
          <a:xfrm>
            <a:off x="274320" y="1005840"/>
            <a:ext cx="502920" cy="1188720"/>
          </a:xfrm>
          <a:prstGeom prst="rect">
            <a:avLst/>
          </a:prstGeom>
          <a:solidFill>
            <a:srgbClr val="0E7490"/>
          </a:solidFill>
          <a:ln w="12700">
            <a:solidFill>
              <a:srgbClr val="0E7490"/>
            </a:solidFill>
            <a:prstDash val="solid"/>
          </a:ln>
        </p:spPr>
        <p:txBody>
          <a:bodyPr/>
          <a:lstStyle/>
          <a:p>
            <a:endParaRPr lang="en-IN"/>
          </a:p>
        </p:txBody>
      </p:sp>
      <p:sp>
        <p:nvSpPr>
          <p:cNvPr id="8" name="Text 4"/>
          <p:cNvSpPr/>
          <p:nvPr/>
        </p:nvSpPr>
        <p:spPr>
          <a:xfrm>
            <a:off x="274320" y="1005840"/>
            <a:ext cx="502920" cy="1188720"/>
          </a:xfrm>
          <a:prstGeom prst="rect">
            <a:avLst/>
          </a:prstGeom>
          <a:noFill/>
          <a:ln/>
        </p:spPr>
        <p:txBody>
          <a:bodyPr wrap="square" lIns="0" tIns="0" rIns="0" bIns="0" rtlCol="0" anchor="ctr"/>
          <a:lstStyle/>
          <a:p>
            <a:pPr marL="0" indent="0" algn="ctr">
              <a:buNone/>
            </a:pPr>
            <a:r>
              <a:rPr lang="en-US" sz="1600" b="1" dirty="0">
                <a:solidFill>
                  <a:srgbClr val="FFFFFF"/>
                </a:solidFill>
              </a:rPr>
              <a:t>01</a:t>
            </a:r>
            <a:endParaRPr lang="en-US" sz="1600" dirty="0"/>
          </a:p>
        </p:txBody>
      </p:sp>
      <p:sp>
        <p:nvSpPr>
          <p:cNvPr id="9" name="Text 5"/>
          <p:cNvSpPr/>
          <p:nvPr/>
        </p:nvSpPr>
        <p:spPr>
          <a:xfrm>
            <a:off x="868680" y="1097280"/>
            <a:ext cx="3566160" cy="32004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Data Pipeline</a:t>
            </a:r>
            <a:endParaRPr lang="en-US" sz="1300" dirty="0"/>
          </a:p>
        </p:txBody>
      </p:sp>
      <p:sp>
        <p:nvSpPr>
          <p:cNvPr id="10" name="Text 6"/>
          <p:cNvSpPr/>
          <p:nvPr/>
        </p:nvSpPr>
        <p:spPr>
          <a:xfrm>
            <a:off x="868680" y="1417320"/>
            <a:ext cx="3566160" cy="731520"/>
          </a:xfrm>
          <a:prstGeom prst="rect">
            <a:avLst/>
          </a:prstGeom>
          <a:noFill/>
          <a:ln/>
        </p:spPr>
        <p:txBody>
          <a:bodyPr wrap="square" rtlCol="0" anchor="ctr"/>
          <a:lstStyle/>
          <a:p>
            <a:pPr marL="0" indent="0">
              <a:lnSpc>
                <a:spcPct val="115000"/>
              </a:lnSpc>
              <a:buNone/>
            </a:pPr>
            <a:r>
              <a:rPr lang="en-US" sz="1050" dirty="0">
                <a:solidFill>
                  <a:srgbClr val="94A3B8"/>
                </a:solidFill>
                <a:latin typeface="Calibri" pitchFamily="34" charset="0"/>
                <a:ea typeface="Calibri" pitchFamily="34" charset="-122"/>
                <a:cs typeface="Calibri" pitchFamily="34" charset="-120"/>
              </a:rPr>
              <a:t>Build a complete preparation pipeline for Kvasir-Capsule video dataset: video splitting, bounding box annotation overlay using OpenCV, and ground truth JSON generation.</a:t>
            </a:r>
            <a:endParaRPr lang="en-US" sz="1050" dirty="0"/>
          </a:p>
        </p:txBody>
      </p:sp>
      <p:sp>
        <p:nvSpPr>
          <p:cNvPr id="11" name="Shape 7"/>
          <p:cNvSpPr/>
          <p:nvPr/>
        </p:nvSpPr>
        <p:spPr>
          <a:xfrm>
            <a:off x="274320" y="2304288"/>
            <a:ext cx="4251960" cy="1188720"/>
          </a:xfrm>
          <a:prstGeom prst="rect">
            <a:avLst/>
          </a:prstGeom>
          <a:solidFill>
            <a:srgbClr val="1E3A5F"/>
          </a:solidFill>
          <a:ln w="12700">
            <a:solidFill>
              <a:srgbClr val="0E7490"/>
            </a:solidFill>
            <a:prstDash val="solid"/>
          </a:ln>
        </p:spPr>
        <p:txBody>
          <a:bodyPr/>
          <a:lstStyle/>
          <a:p>
            <a:endParaRPr lang="en-IN"/>
          </a:p>
        </p:txBody>
      </p:sp>
      <p:sp>
        <p:nvSpPr>
          <p:cNvPr id="12" name="Shape 8"/>
          <p:cNvSpPr/>
          <p:nvPr/>
        </p:nvSpPr>
        <p:spPr>
          <a:xfrm>
            <a:off x="274320" y="2304288"/>
            <a:ext cx="502920" cy="1188720"/>
          </a:xfrm>
          <a:prstGeom prst="rect">
            <a:avLst/>
          </a:prstGeom>
          <a:solidFill>
            <a:srgbClr val="0E7490"/>
          </a:solidFill>
          <a:ln w="12700">
            <a:solidFill>
              <a:srgbClr val="0E7490"/>
            </a:solidFill>
            <a:prstDash val="solid"/>
          </a:ln>
        </p:spPr>
        <p:txBody>
          <a:bodyPr/>
          <a:lstStyle/>
          <a:p>
            <a:endParaRPr lang="en-IN"/>
          </a:p>
        </p:txBody>
      </p:sp>
      <p:sp>
        <p:nvSpPr>
          <p:cNvPr id="13" name="Text 9"/>
          <p:cNvSpPr/>
          <p:nvPr/>
        </p:nvSpPr>
        <p:spPr>
          <a:xfrm>
            <a:off x="274320" y="2304288"/>
            <a:ext cx="502920" cy="1188720"/>
          </a:xfrm>
          <a:prstGeom prst="rect">
            <a:avLst/>
          </a:prstGeom>
          <a:noFill/>
          <a:ln/>
        </p:spPr>
        <p:txBody>
          <a:bodyPr wrap="square" lIns="0" tIns="0" rIns="0" bIns="0" rtlCol="0" anchor="ctr"/>
          <a:lstStyle/>
          <a:p>
            <a:pPr marL="0" indent="0" algn="ctr">
              <a:buNone/>
            </a:pPr>
            <a:r>
              <a:rPr lang="en-US" sz="1600" b="1" dirty="0">
                <a:solidFill>
                  <a:srgbClr val="FFFFFF"/>
                </a:solidFill>
              </a:rPr>
              <a:t>02</a:t>
            </a:r>
            <a:endParaRPr lang="en-US" sz="1600" dirty="0"/>
          </a:p>
        </p:txBody>
      </p:sp>
      <p:sp>
        <p:nvSpPr>
          <p:cNvPr id="14" name="Text 10"/>
          <p:cNvSpPr/>
          <p:nvPr/>
        </p:nvSpPr>
        <p:spPr>
          <a:xfrm>
            <a:off x="868680" y="2395728"/>
            <a:ext cx="3566160" cy="32004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Zero-shot Evaluation</a:t>
            </a:r>
            <a:endParaRPr lang="en-US" sz="1300" dirty="0"/>
          </a:p>
        </p:txBody>
      </p:sp>
      <p:sp>
        <p:nvSpPr>
          <p:cNvPr id="15" name="Text 11"/>
          <p:cNvSpPr/>
          <p:nvPr/>
        </p:nvSpPr>
        <p:spPr>
          <a:xfrm>
            <a:off x="868680" y="2715768"/>
            <a:ext cx="3566160" cy="731520"/>
          </a:xfrm>
          <a:prstGeom prst="rect">
            <a:avLst/>
          </a:prstGeom>
          <a:noFill/>
          <a:ln/>
        </p:spPr>
        <p:txBody>
          <a:bodyPr wrap="square" rtlCol="0" anchor="ctr"/>
          <a:lstStyle/>
          <a:p>
            <a:pPr marL="0" indent="0">
              <a:lnSpc>
                <a:spcPct val="115000"/>
              </a:lnSpc>
              <a:buNone/>
            </a:pPr>
            <a:r>
              <a:rPr lang="en-US" sz="1050" dirty="0">
                <a:solidFill>
                  <a:srgbClr val="94A3B8"/>
                </a:solidFill>
                <a:latin typeface="Calibri" pitchFamily="34" charset="0"/>
                <a:ea typeface="Calibri" pitchFamily="34" charset="-122"/>
                <a:cs typeface="Calibri" pitchFamily="34" charset="-120"/>
              </a:rPr>
              <a:t>Evaluate off-the-shelf vision models (CLIP, BLIP-2) on capsule endoscopy images and document their failure modes and domain shift characteristics.</a:t>
            </a:r>
            <a:endParaRPr lang="en-US" sz="1050" dirty="0"/>
          </a:p>
        </p:txBody>
      </p:sp>
      <p:sp>
        <p:nvSpPr>
          <p:cNvPr id="16" name="Shape 12"/>
          <p:cNvSpPr/>
          <p:nvPr/>
        </p:nvSpPr>
        <p:spPr>
          <a:xfrm>
            <a:off x="274320" y="3602736"/>
            <a:ext cx="4251960" cy="1188720"/>
          </a:xfrm>
          <a:prstGeom prst="rect">
            <a:avLst/>
          </a:prstGeom>
          <a:solidFill>
            <a:srgbClr val="1E3A5F"/>
          </a:solidFill>
          <a:ln w="12700">
            <a:solidFill>
              <a:srgbClr val="0E7490"/>
            </a:solidFill>
            <a:prstDash val="solid"/>
          </a:ln>
        </p:spPr>
        <p:txBody>
          <a:bodyPr/>
          <a:lstStyle/>
          <a:p>
            <a:endParaRPr lang="en-IN"/>
          </a:p>
        </p:txBody>
      </p:sp>
      <p:sp>
        <p:nvSpPr>
          <p:cNvPr id="17" name="Shape 13"/>
          <p:cNvSpPr/>
          <p:nvPr/>
        </p:nvSpPr>
        <p:spPr>
          <a:xfrm>
            <a:off x="274320" y="3602736"/>
            <a:ext cx="502920" cy="1188720"/>
          </a:xfrm>
          <a:prstGeom prst="rect">
            <a:avLst/>
          </a:prstGeom>
          <a:solidFill>
            <a:srgbClr val="0E7490"/>
          </a:solidFill>
          <a:ln w="12700">
            <a:solidFill>
              <a:srgbClr val="0E7490"/>
            </a:solidFill>
            <a:prstDash val="solid"/>
          </a:ln>
        </p:spPr>
        <p:txBody>
          <a:bodyPr/>
          <a:lstStyle/>
          <a:p>
            <a:endParaRPr lang="en-IN"/>
          </a:p>
        </p:txBody>
      </p:sp>
      <p:sp>
        <p:nvSpPr>
          <p:cNvPr id="18" name="Text 14"/>
          <p:cNvSpPr/>
          <p:nvPr/>
        </p:nvSpPr>
        <p:spPr>
          <a:xfrm>
            <a:off x="274320" y="3602736"/>
            <a:ext cx="502920" cy="1188720"/>
          </a:xfrm>
          <a:prstGeom prst="rect">
            <a:avLst/>
          </a:prstGeom>
          <a:noFill/>
          <a:ln/>
        </p:spPr>
        <p:txBody>
          <a:bodyPr wrap="square" lIns="0" tIns="0" rIns="0" bIns="0" rtlCol="0" anchor="ctr"/>
          <a:lstStyle/>
          <a:p>
            <a:pPr marL="0" indent="0" algn="ctr">
              <a:buNone/>
            </a:pPr>
            <a:r>
              <a:rPr lang="en-US" sz="1600" b="1" dirty="0">
                <a:solidFill>
                  <a:srgbClr val="FFFFFF"/>
                </a:solidFill>
              </a:rPr>
              <a:t>03</a:t>
            </a:r>
            <a:endParaRPr lang="en-US" sz="1600" dirty="0"/>
          </a:p>
        </p:txBody>
      </p:sp>
      <p:sp>
        <p:nvSpPr>
          <p:cNvPr id="19" name="Text 15"/>
          <p:cNvSpPr/>
          <p:nvPr/>
        </p:nvSpPr>
        <p:spPr>
          <a:xfrm>
            <a:off x="868680" y="3694176"/>
            <a:ext cx="3566160" cy="32004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MedSAM Benchmarking</a:t>
            </a:r>
            <a:endParaRPr lang="en-US" sz="1300" dirty="0"/>
          </a:p>
        </p:txBody>
      </p:sp>
      <p:sp>
        <p:nvSpPr>
          <p:cNvPr id="20" name="Text 16"/>
          <p:cNvSpPr/>
          <p:nvPr/>
        </p:nvSpPr>
        <p:spPr>
          <a:xfrm>
            <a:off x="868680" y="4014216"/>
            <a:ext cx="3566160" cy="731520"/>
          </a:xfrm>
          <a:prstGeom prst="rect">
            <a:avLst/>
          </a:prstGeom>
          <a:noFill/>
          <a:ln/>
        </p:spPr>
        <p:txBody>
          <a:bodyPr wrap="square" rtlCol="0" anchor="ctr"/>
          <a:lstStyle/>
          <a:p>
            <a:pPr marL="0" indent="0">
              <a:lnSpc>
                <a:spcPct val="115000"/>
              </a:lnSpc>
              <a:buNone/>
            </a:pPr>
            <a:r>
              <a:rPr lang="en-US" sz="1050" dirty="0">
                <a:solidFill>
                  <a:srgbClr val="94A3B8"/>
                </a:solidFill>
                <a:latin typeface="Calibri" pitchFamily="34" charset="0"/>
                <a:ea typeface="Calibri" pitchFamily="34" charset="-122"/>
                <a:cs typeface="Calibri" pitchFamily="34" charset="-120"/>
              </a:rPr>
              <a:t>Benchmark pretrained MedSAM on capsule endoscopy lesion segmentation using ground truth bounding boxes as prompts across all 4 lesion classes.</a:t>
            </a:r>
            <a:endParaRPr lang="en-US" sz="1050" dirty="0"/>
          </a:p>
        </p:txBody>
      </p:sp>
      <p:sp>
        <p:nvSpPr>
          <p:cNvPr id="21" name="Shape 17"/>
          <p:cNvSpPr/>
          <p:nvPr/>
        </p:nvSpPr>
        <p:spPr>
          <a:xfrm>
            <a:off x="4846320" y="1005840"/>
            <a:ext cx="4251960" cy="1188720"/>
          </a:xfrm>
          <a:prstGeom prst="rect">
            <a:avLst/>
          </a:prstGeom>
          <a:solidFill>
            <a:srgbClr val="1E3A5F"/>
          </a:solidFill>
          <a:ln w="12700">
            <a:solidFill>
              <a:srgbClr val="0E7490"/>
            </a:solidFill>
            <a:prstDash val="solid"/>
          </a:ln>
        </p:spPr>
        <p:txBody>
          <a:bodyPr/>
          <a:lstStyle/>
          <a:p>
            <a:endParaRPr lang="en-IN"/>
          </a:p>
        </p:txBody>
      </p:sp>
      <p:sp>
        <p:nvSpPr>
          <p:cNvPr id="22" name="Shape 18"/>
          <p:cNvSpPr/>
          <p:nvPr/>
        </p:nvSpPr>
        <p:spPr>
          <a:xfrm>
            <a:off x="4846320" y="1005840"/>
            <a:ext cx="502920" cy="1188720"/>
          </a:xfrm>
          <a:prstGeom prst="rect">
            <a:avLst/>
          </a:prstGeom>
          <a:solidFill>
            <a:srgbClr val="0E7490"/>
          </a:solidFill>
          <a:ln w="12700">
            <a:solidFill>
              <a:srgbClr val="0E7490"/>
            </a:solidFill>
            <a:prstDash val="solid"/>
          </a:ln>
        </p:spPr>
        <p:txBody>
          <a:bodyPr/>
          <a:lstStyle/>
          <a:p>
            <a:endParaRPr lang="en-IN"/>
          </a:p>
        </p:txBody>
      </p:sp>
      <p:sp>
        <p:nvSpPr>
          <p:cNvPr id="23" name="Text 19"/>
          <p:cNvSpPr/>
          <p:nvPr/>
        </p:nvSpPr>
        <p:spPr>
          <a:xfrm>
            <a:off x="4846320" y="1005840"/>
            <a:ext cx="502920" cy="1188720"/>
          </a:xfrm>
          <a:prstGeom prst="rect">
            <a:avLst/>
          </a:prstGeom>
          <a:noFill/>
          <a:ln/>
        </p:spPr>
        <p:txBody>
          <a:bodyPr wrap="square" lIns="0" tIns="0" rIns="0" bIns="0" rtlCol="0" anchor="ctr"/>
          <a:lstStyle/>
          <a:p>
            <a:pPr marL="0" indent="0" algn="ctr">
              <a:buNone/>
            </a:pPr>
            <a:r>
              <a:rPr lang="en-US" sz="1600" b="1" dirty="0">
                <a:solidFill>
                  <a:srgbClr val="FFFFFF"/>
                </a:solidFill>
              </a:rPr>
              <a:t>04</a:t>
            </a:r>
            <a:endParaRPr lang="en-US" sz="1600" dirty="0"/>
          </a:p>
        </p:txBody>
      </p:sp>
      <p:sp>
        <p:nvSpPr>
          <p:cNvPr id="24" name="Text 20"/>
          <p:cNvSpPr/>
          <p:nvPr/>
        </p:nvSpPr>
        <p:spPr>
          <a:xfrm>
            <a:off x="5440680" y="1097280"/>
            <a:ext cx="3566160" cy="32004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Metrics &amp; Comparison</a:t>
            </a:r>
            <a:endParaRPr lang="en-US" sz="1300" dirty="0"/>
          </a:p>
        </p:txBody>
      </p:sp>
      <p:sp>
        <p:nvSpPr>
          <p:cNvPr id="25" name="Text 21"/>
          <p:cNvSpPr/>
          <p:nvPr/>
        </p:nvSpPr>
        <p:spPr>
          <a:xfrm>
            <a:off x="5440680" y="1417320"/>
            <a:ext cx="3566160" cy="731520"/>
          </a:xfrm>
          <a:prstGeom prst="rect">
            <a:avLst/>
          </a:prstGeom>
          <a:noFill/>
          <a:ln/>
        </p:spPr>
        <p:txBody>
          <a:bodyPr wrap="square" rtlCol="0" anchor="ctr"/>
          <a:lstStyle/>
          <a:p>
            <a:pPr marL="0" indent="0">
              <a:lnSpc>
                <a:spcPct val="115000"/>
              </a:lnSpc>
              <a:buNone/>
            </a:pPr>
            <a:r>
              <a:rPr lang="en-US" sz="1050" dirty="0">
                <a:solidFill>
                  <a:srgbClr val="94A3B8"/>
                </a:solidFill>
                <a:latin typeface="Calibri" pitchFamily="34" charset="0"/>
                <a:ea typeface="Calibri" pitchFamily="34" charset="-122"/>
                <a:cs typeface="Calibri" pitchFamily="34" charset="-120"/>
              </a:rPr>
              <a:t>Compute Precision, Recall, F1, IoU, and Dice metrics per class and compare against benchmarks reported in the Kvasir-Capsule paper.</a:t>
            </a:r>
            <a:endParaRPr lang="en-US" sz="1050" dirty="0"/>
          </a:p>
        </p:txBody>
      </p:sp>
      <p:sp>
        <p:nvSpPr>
          <p:cNvPr id="26" name="Shape 22"/>
          <p:cNvSpPr/>
          <p:nvPr/>
        </p:nvSpPr>
        <p:spPr>
          <a:xfrm>
            <a:off x="4846320" y="2304288"/>
            <a:ext cx="4251960" cy="1188720"/>
          </a:xfrm>
          <a:prstGeom prst="rect">
            <a:avLst/>
          </a:prstGeom>
          <a:solidFill>
            <a:srgbClr val="1E3A5F"/>
          </a:solidFill>
          <a:ln w="12700">
            <a:solidFill>
              <a:srgbClr val="0E7490"/>
            </a:solidFill>
            <a:prstDash val="solid"/>
          </a:ln>
        </p:spPr>
        <p:txBody>
          <a:bodyPr/>
          <a:lstStyle/>
          <a:p>
            <a:endParaRPr lang="en-IN"/>
          </a:p>
        </p:txBody>
      </p:sp>
      <p:sp>
        <p:nvSpPr>
          <p:cNvPr id="27" name="Shape 23"/>
          <p:cNvSpPr/>
          <p:nvPr/>
        </p:nvSpPr>
        <p:spPr>
          <a:xfrm>
            <a:off x="4846320" y="2304288"/>
            <a:ext cx="502920" cy="1188720"/>
          </a:xfrm>
          <a:prstGeom prst="rect">
            <a:avLst/>
          </a:prstGeom>
          <a:solidFill>
            <a:srgbClr val="0E7490"/>
          </a:solidFill>
          <a:ln w="12700">
            <a:solidFill>
              <a:srgbClr val="0E7490"/>
            </a:solidFill>
            <a:prstDash val="solid"/>
          </a:ln>
        </p:spPr>
        <p:txBody>
          <a:bodyPr/>
          <a:lstStyle/>
          <a:p>
            <a:endParaRPr lang="en-IN"/>
          </a:p>
        </p:txBody>
      </p:sp>
      <p:sp>
        <p:nvSpPr>
          <p:cNvPr id="28" name="Text 24"/>
          <p:cNvSpPr/>
          <p:nvPr/>
        </p:nvSpPr>
        <p:spPr>
          <a:xfrm>
            <a:off x="4846320" y="2304288"/>
            <a:ext cx="502920" cy="1188720"/>
          </a:xfrm>
          <a:prstGeom prst="rect">
            <a:avLst/>
          </a:prstGeom>
          <a:noFill/>
          <a:ln/>
        </p:spPr>
        <p:txBody>
          <a:bodyPr wrap="square" lIns="0" tIns="0" rIns="0" bIns="0" rtlCol="0" anchor="ctr"/>
          <a:lstStyle/>
          <a:p>
            <a:pPr marL="0" indent="0" algn="ctr">
              <a:buNone/>
            </a:pPr>
            <a:r>
              <a:rPr lang="en-US" sz="1600" b="1" dirty="0">
                <a:solidFill>
                  <a:srgbClr val="FFFFFF"/>
                </a:solidFill>
              </a:rPr>
              <a:t>05</a:t>
            </a:r>
            <a:endParaRPr lang="en-US" sz="1600" dirty="0"/>
          </a:p>
        </p:txBody>
      </p:sp>
      <p:sp>
        <p:nvSpPr>
          <p:cNvPr id="29" name="Text 25"/>
          <p:cNvSpPr/>
          <p:nvPr/>
        </p:nvSpPr>
        <p:spPr>
          <a:xfrm>
            <a:off x="5440680" y="2395728"/>
            <a:ext cx="3566160" cy="32004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Domain Gap Analysis</a:t>
            </a:r>
            <a:endParaRPr lang="en-US" sz="1300" dirty="0"/>
          </a:p>
        </p:txBody>
      </p:sp>
      <p:sp>
        <p:nvSpPr>
          <p:cNvPr id="30" name="Text 26"/>
          <p:cNvSpPr/>
          <p:nvPr/>
        </p:nvSpPr>
        <p:spPr>
          <a:xfrm>
            <a:off x="5440680" y="2715768"/>
            <a:ext cx="3566160" cy="731520"/>
          </a:xfrm>
          <a:prstGeom prst="rect">
            <a:avLst/>
          </a:prstGeom>
          <a:noFill/>
          <a:ln/>
        </p:spPr>
        <p:txBody>
          <a:bodyPr wrap="square" rtlCol="0" anchor="ctr"/>
          <a:lstStyle/>
          <a:p>
            <a:pPr marL="0" indent="0">
              <a:lnSpc>
                <a:spcPct val="115000"/>
              </a:lnSpc>
              <a:buNone/>
            </a:pPr>
            <a:r>
              <a:rPr lang="en-US" sz="1050" dirty="0">
                <a:solidFill>
                  <a:srgbClr val="94A3B8"/>
                </a:solidFill>
                <a:latin typeface="Calibri" pitchFamily="34" charset="0"/>
                <a:ea typeface="Calibri" pitchFamily="34" charset="-122"/>
                <a:cs typeface="Calibri" pitchFamily="34" charset="-120"/>
              </a:rPr>
              <a:t>Demonstrate the domain gap between general medical imaging and capsule endoscopy, motivating the need for domain-specific fine-tuning approaches.</a:t>
            </a:r>
            <a:endParaRPr lang="en-US" sz="1050" dirty="0"/>
          </a:p>
        </p:txBody>
      </p:sp>
      <p:sp>
        <p:nvSpPr>
          <p:cNvPr id="32" name="TextBox 31">
            <a:extLst>
              <a:ext uri="{FF2B5EF4-FFF2-40B4-BE49-F238E27FC236}">
                <a16:creationId xmlns:a16="http://schemas.microsoft.com/office/drawing/2014/main" id="{C8C8AAC9-A2EE-815D-C3F0-CC01E2C1B627}"/>
              </a:ext>
            </a:extLst>
          </p:cNvPr>
          <p:cNvSpPr txBox="1"/>
          <p:nvPr/>
        </p:nvSpPr>
        <p:spPr>
          <a:xfrm>
            <a:off x="164592" y="4787884"/>
            <a:ext cx="4579256" cy="369332"/>
          </a:xfrm>
          <a:prstGeom prst="rect">
            <a:avLst/>
          </a:prstGeom>
          <a:noFill/>
        </p:spPr>
        <p:txBody>
          <a:bodyPr wrap="square">
            <a:spAutoFit/>
          </a:bodyPr>
          <a:lstStyle/>
          <a:p>
            <a:r>
              <a:rPr lang="en-US" sz="1800" dirty="0"/>
              <a:t>Page 1</a:t>
            </a:r>
            <a:endParaRPr lang="en-IN" sz="1800" dirty="0"/>
          </a:p>
        </p:txBody>
      </p:sp>
      <p:sp>
        <p:nvSpPr>
          <p:cNvPr id="33" name="TextBox 32">
            <a:extLst>
              <a:ext uri="{FF2B5EF4-FFF2-40B4-BE49-F238E27FC236}">
                <a16:creationId xmlns:a16="http://schemas.microsoft.com/office/drawing/2014/main" id="{24E81C27-0236-2804-EB68-77F0095BA2BA}"/>
              </a:ext>
            </a:extLst>
          </p:cNvPr>
          <p:cNvSpPr txBox="1"/>
          <p:nvPr/>
        </p:nvSpPr>
        <p:spPr>
          <a:xfrm>
            <a:off x="4038964" y="14776"/>
            <a:ext cx="4579256" cy="307777"/>
          </a:xfrm>
          <a:prstGeom prst="rect">
            <a:avLst/>
          </a:prstGeom>
          <a:noFill/>
        </p:spPr>
        <p:txBody>
          <a:bodyPr wrap="square">
            <a:spAutoFit/>
          </a:bodyPr>
          <a:lstStyle/>
          <a:p>
            <a:r>
              <a:rPr lang="en-US" sz="1400" dirty="0">
                <a:solidFill>
                  <a:schemeClr val="bg1"/>
                </a:solidFill>
              </a:rPr>
              <a:t>Page 4</a:t>
            </a:r>
            <a:endParaRPr lang="en-IN" sz="14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545"/>
          </a:solidFill>
          <a:ln w="12700">
            <a:solidFill>
              <a:srgbClr val="0D2545"/>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164592" y="91440"/>
            <a:ext cx="777240" cy="777240"/>
          </a:xfrm>
          <a:prstGeom prst="rect">
            <a:avLst/>
          </a:prstGeom>
        </p:spPr>
      </p:pic>
      <p:pic>
        <p:nvPicPr>
          <p:cNvPr id="4" name="Image 1" descr="preencoded.png"/>
          <p:cNvPicPr>
            <a:picLocks noChangeAspect="1"/>
          </p:cNvPicPr>
          <p:nvPr/>
        </p:nvPicPr>
        <p:blipFill>
          <a:blip r:embed="rId4"/>
          <a:stretch>
            <a:fillRect/>
          </a:stretch>
        </p:blipFill>
        <p:spPr>
          <a:xfrm>
            <a:off x="8229600" y="91440"/>
            <a:ext cx="777240" cy="777240"/>
          </a:xfrm>
          <a:prstGeom prst="rect">
            <a:avLst/>
          </a:prstGeom>
        </p:spPr>
      </p:pic>
      <p:sp>
        <p:nvSpPr>
          <p:cNvPr id="5" name="Text 1"/>
          <p:cNvSpPr/>
          <p:nvPr/>
        </p:nvSpPr>
        <p:spPr>
          <a:xfrm>
            <a:off x="1097280" y="137160"/>
            <a:ext cx="694944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Methodology</a:t>
            </a:r>
            <a:endParaRPr lang="en-US" sz="2200" dirty="0"/>
          </a:p>
        </p:txBody>
      </p:sp>
      <p:sp>
        <p:nvSpPr>
          <p:cNvPr id="6" name="Shape 2"/>
          <p:cNvSpPr/>
          <p:nvPr/>
        </p:nvSpPr>
        <p:spPr>
          <a:xfrm>
            <a:off x="228600" y="1005840"/>
            <a:ext cx="1005840" cy="1005840"/>
          </a:xfrm>
          <a:prstGeom prst="ellipse">
            <a:avLst/>
          </a:prstGeom>
          <a:solidFill>
            <a:srgbClr val="0E7490"/>
          </a:solidFill>
          <a:ln w="12700">
            <a:solidFill>
              <a:srgbClr val="0E7490"/>
            </a:solidFill>
            <a:prstDash val="solid"/>
          </a:ln>
        </p:spPr>
        <p:txBody>
          <a:bodyPr/>
          <a:lstStyle/>
          <a:p>
            <a:endParaRPr lang="en-IN"/>
          </a:p>
        </p:txBody>
      </p:sp>
      <p:sp>
        <p:nvSpPr>
          <p:cNvPr id="7" name="Text 3"/>
          <p:cNvSpPr/>
          <p:nvPr/>
        </p:nvSpPr>
        <p:spPr>
          <a:xfrm>
            <a:off x="228600" y="1005840"/>
            <a:ext cx="1005840" cy="1005840"/>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8" name="Text 4"/>
          <p:cNvSpPr/>
          <p:nvPr/>
        </p:nvSpPr>
        <p:spPr>
          <a:xfrm>
            <a:off x="137160" y="2103120"/>
            <a:ext cx="1188720" cy="502920"/>
          </a:xfrm>
          <a:prstGeom prst="rect">
            <a:avLst/>
          </a:prstGeom>
          <a:noFill/>
          <a:ln/>
        </p:spPr>
        <p:txBody>
          <a:bodyPr wrap="square" rtlCol="0" anchor="ctr"/>
          <a:lstStyle/>
          <a:p>
            <a:pPr marL="0" indent="0" algn="ctr">
              <a:buNone/>
            </a:pPr>
            <a:r>
              <a:rPr lang="en-US" sz="950" b="1" dirty="0">
                <a:solidFill>
                  <a:srgbClr val="0D2545"/>
                </a:solidFill>
                <a:latin typeface="Calibri" pitchFamily="34" charset="0"/>
                <a:ea typeface="Calibri" pitchFamily="34" charset="-122"/>
                <a:cs typeface="Calibri" pitchFamily="34" charset="-120"/>
              </a:rPr>
              <a:t>Metadata</a:t>
            </a:r>
            <a:endParaRPr lang="en-US" sz="950" dirty="0"/>
          </a:p>
          <a:p>
            <a:pPr marL="0" indent="0" algn="ctr">
              <a:buNone/>
            </a:pPr>
            <a:r>
              <a:rPr lang="en-US" sz="950" b="1" dirty="0">
                <a:solidFill>
                  <a:srgbClr val="0D2545"/>
                </a:solidFill>
                <a:latin typeface="Calibri" pitchFamily="34" charset="0"/>
                <a:ea typeface="Calibri" pitchFamily="34" charset="-122"/>
                <a:cs typeface="Calibri" pitchFamily="34" charset="-120"/>
              </a:rPr>
              <a:t>Parsing</a:t>
            </a:r>
            <a:endParaRPr lang="en-US" sz="950" dirty="0"/>
          </a:p>
        </p:txBody>
      </p:sp>
      <p:sp>
        <p:nvSpPr>
          <p:cNvPr id="9" name="Shape 5"/>
          <p:cNvSpPr/>
          <p:nvPr/>
        </p:nvSpPr>
        <p:spPr>
          <a:xfrm>
            <a:off x="1252728" y="1508760"/>
            <a:ext cx="429768" cy="0"/>
          </a:xfrm>
          <a:prstGeom prst="line">
            <a:avLst/>
          </a:prstGeom>
          <a:noFill/>
          <a:ln w="25400">
            <a:solidFill>
              <a:srgbClr val="94A3B8"/>
            </a:solidFill>
            <a:prstDash val="solid"/>
          </a:ln>
        </p:spPr>
        <p:txBody>
          <a:bodyPr/>
          <a:lstStyle/>
          <a:p>
            <a:endParaRPr lang="en-IN"/>
          </a:p>
        </p:txBody>
      </p:sp>
      <p:sp>
        <p:nvSpPr>
          <p:cNvPr id="10" name="Shape 6"/>
          <p:cNvSpPr/>
          <p:nvPr/>
        </p:nvSpPr>
        <p:spPr>
          <a:xfrm>
            <a:off x="1691640" y="1005840"/>
            <a:ext cx="1005840" cy="1005840"/>
          </a:xfrm>
          <a:prstGeom prst="ellipse">
            <a:avLst/>
          </a:prstGeom>
          <a:solidFill>
            <a:srgbClr val="0E9F6E"/>
          </a:solidFill>
          <a:ln w="12700">
            <a:solidFill>
              <a:srgbClr val="0E9F6E"/>
            </a:solidFill>
            <a:prstDash val="solid"/>
          </a:ln>
        </p:spPr>
        <p:txBody>
          <a:bodyPr/>
          <a:lstStyle/>
          <a:p>
            <a:endParaRPr lang="en-IN"/>
          </a:p>
        </p:txBody>
      </p:sp>
      <p:sp>
        <p:nvSpPr>
          <p:cNvPr id="11" name="Text 7"/>
          <p:cNvSpPr/>
          <p:nvPr/>
        </p:nvSpPr>
        <p:spPr>
          <a:xfrm>
            <a:off x="1691640" y="1005840"/>
            <a:ext cx="1005840" cy="1005840"/>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2" name="Text 8"/>
          <p:cNvSpPr/>
          <p:nvPr/>
        </p:nvSpPr>
        <p:spPr>
          <a:xfrm>
            <a:off x="1600200" y="2103120"/>
            <a:ext cx="1188720" cy="502920"/>
          </a:xfrm>
          <a:prstGeom prst="rect">
            <a:avLst/>
          </a:prstGeom>
          <a:noFill/>
          <a:ln/>
        </p:spPr>
        <p:txBody>
          <a:bodyPr wrap="square" rtlCol="0" anchor="ctr"/>
          <a:lstStyle/>
          <a:p>
            <a:pPr marL="0" indent="0" algn="ctr">
              <a:buNone/>
            </a:pPr>
            <a:r>
              <a:rPr lang="en-US" sz="950" b="1" dirty="0">
                <a:solidFill>
                  <a:srgbClr val="0D2545"/>
                </a:solidFill>
                <a:latin typeface="Calibri" pitchFamily="34" charset="0"/>
                <a:ea typeface="Calibri" pitchFamily="34" charset="-122"/>
                <a:cs typeface="Calibri" pitchFamily="34" charset="-120"/>
              </a:rPr>
              <a:t>Data</a:t>
            </a:r>
            <a:endParaRPr lang="en-US" sz="950" dirty="0"/>
          </a:p>
          <a:p>
            <a:pPr marL="0" indent="0" algn="ctr">
              <a:buNone/>
            </a:pPr>
            <a:r>
              <a:rPr lang="en-US" sz="950" b="1" dirty="0">
                <a:solidFill>
                  <a:srgbClr val="0D2545"/>
                </a:solidFill>
                <a:latin typeface="Calibri" pitchFamily="34" charset="0"/>
                <a:ea typeface="Calibri" pitchFamily="34" charset="-122"/>
                <a:cs typeface="Calibri" pitchFamily="34" charset="-120"/>
              </a:rPr>
              <a:t>Pipeline</a:t>
            </a:r>
            <a:endParaRPr lang="en-US" sz="950" dirty="0"/>
          </a:p>
        </p:txBody>
      </p:sp>
      <p:sp>
        <p:nvSpPr>
          <p:cNvPr id="13" name="Shape 9"/>
          <p:cNvSpPr/>
          <p:nvPr/>
        </p:nvSpPr>
        <p:spPr>
          <a:xfrm>
            <a:off x="2715768" y="1508760"/>
            <a:ext cx="429768" cy="0"/>
          </a:xfrm>
          <a:prstGeom prst="line">
            <a:avLst/>
          </a:prstGeom>
          <a:noFill/>
          <a:ln w="25400">
            <a:solidFill>
              <a:srgbClr val="94A3B8"/>
            </a:solidFill>
            <a:prstDash val="solid"/>
          </a:ln>
        </p:spPr>
        <p:txBody>
          <a:bodyPr/>
          <a:lstStyle/>
          <a:p>
            <a:endParaRPr lang="en-IN"/>
          </a:p>
        </p:txBody>
      </p:sp>
      <p:sp>
        <p:nvSpPr>
          <p:cNvPr id="14" name="Shape 10"/>
          <p:cNvSpPr/>
          <p:nvPr/>
        </p:nvSpPr>
        <p:spPr>
          <a:xfrm>
            <a:off x="3154680" y="1005840"/>
            <a:ext cx="1005840" cy="1005840"/>
          </a:xfrm>
          <a:prstGeom prst="ellipse">
            <a:avLst/>
          </a:prstGeom>
          <a:solidFill>
            <a:srgbClr val="F59E0B"/>
          </a:solidFill>
          <a:ln w="12700">
            <a:solidFill>
              <a:srgbClr val="F59E0B"/>
            </a:solidFill>
            <a:prstDash val="solid"/>
          </a:ln>
        </p:spPr>
        <p:txBody>
          <a:bodyPr/>
          <a:lstStyle/>
          <a:p>
            <a:endParaRPr lang="en-IN"/>
          </a:p>
        </p:txBody>
      </p:sp>
      <p:sp>
        <p:nvSpPr>
          <p:cNvPr id="15" name="Text 11"/>
          <p:cNvSpPr/>
          <p:nvPr/>
        </p:nvSpPr>
        <p:spPr>
          <a:xfrm>
            <a:off x="3154680" y="1005840"/>
            <a:ext cx="1005840" cy="1005840"/>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6" name="Text 12"/>
          <p:cNvSpPr/>
          <p:nvPr/>
        </p:nvSpPr>
        <p:spPr>
          <a:xfrm>
            <a:off x="3063240" y="2103120"/>
            <a:ext cx="1188720" cy="502920"/>
          </a:xfrm>
          <a:prstGeom prst="rect">
            <a:avLst/>
          </a:prstGeom>
          <a:noFill/>
          <a:ln/>
        </p:spPr>
        <p:txBody>
          <a:bodyPr wrap="square" rtlCol="0" anchor="ctr"/>
          <a:lstStyle/>
          <a:p>
            <a:pPr marL="0" indent="0" algn="ctr">
              <a:buNone/>
            </a:pPr>
            <a:r>
              <a:rPr lang="en-US" sz="950" b="1" dirty="0">
                <a:solidFill>
                  <a:srgbClr val="0D2545"/>
                </a:solidFill>
                <a:latin typeface="Calibri" pitchFamily="34" charset="0"/>
                <a:ea typeface="Calibri" pitchFamily="34" charset="-122"/>
                <a:cs typeface="Calibri" pitchFamily="34" charset="-120"/>
              </a:rPr>
              <a:t>Video</a:t>
            </a:r>
            <a:endParaRPr lang="en-US" sz="950" dirty="0"/>
          </a:p>
          <a:p>
            <a:pPr marL="0" indent="0" algn="ctr">
              <a:buNone/>
            </a:pPr>
            <a:r>
              <a:rPr lang="en-US" sz="950" b="1" dirty="0">
                <a:solidFill>
                  <a:srgbClr val="0D2545"/>
                </a:solidFill>
                <a:latin typeface="Calibri" pitchFamily="34" charset="0"/>
                <a:ea typeface="Calibri" pitchFamily="34" charset="-122"/>
                <a:cs typeface="Calibri" pitchFamily="34" charset="-120"/>
              </a:rPr>
              <a:t>Assembly</a:t>
            </a:r>
            <a:endParaRPr lang="en-US" sz="950" dirty="0"/>
          </a:p>
        </p:txBody>
      </p:sp>
      <p:sp>
        <p:nvSpPr>
          <p:cNvPr id="17" name="Shape 13"/>
          <p:cNvSpPr/>
          <p:nvPr/>
        </p:nvSpPr>
        <p:spPr>
          <a:xfrm>
            <a:off x="4178808" y="1508760"/>
            <a:ext cx="429768" cy="0"/>
          </a:xfrm>
          <a:prstGeom prst="line">
            <a:avLst/>
          </a:prstGeom>
          <a:noFill/>
          <a:ln w="25400">
            <a:solidFill>
              <a:srgbClr val="94A3B8"/>
            </a:solidFill>
            <a:prstDash val="solid"/>
          </a:ln>
        </p:spPr>
        <p:txBody>
          <a:bodyPr/>
          <a:lstStyle/>
          <a:p>
            <a:endParaRPr lang="en-IN"/>
          </a:p>
        </p:txBody>
      </p:sp>
      <p:sp>
        <p:nvSpPr>
          <p:cNvPr id="18" name="Shape 14"/>
          <p:cNvSpPr/>
          <p:nvPr/>
        </p:nvSpPr>
        <p:spPr>
          <a:xfrm>
            <a:off x="4617720" y="1005840"/>
            <a:ext cx="1005840" cy="1005840"/>
          </a:xfrm>
          <a:prstGeom prst="ellipse">
            <a:avLst/>
          </a:prstGeom>
          <a:solidFill>
            <a:srgbClr val="7C3AED"/>
          </a:solidFill>
          <a:ln w="12700">
            <a:solidFill>
              <a:srgbClr val="7C3AED"/>
            </a:solidFill>
            <a:prstDash val="solid"/>
          </a:ln>
        </p:spPr>
        <p:txBody>
          <a:bodyPr/>
          <a:lstStyle/>
          <a:p>
            <a:endParaRPr lang="en-IN"/>
          </a:p>
        </p:txBody>
      </p:sp>
      <p:sp>
        <p:nvSpPr>
          <p:cNvPr id="19" name="Text 15"/>
          <p:cNvSpPr/>
          <p:nvPr/>
        </p:nvSpPr>
        <p:spPr>
          <a:xfrm>
            <a:off x="4617720" y="1005840"/>
            <a:ext cx="1005840" cy="1005840"/>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20" name="Text 16"/>
          <p:cNvSpPr/>
          <p:nvPr/>
        </p:nvSpPr>
        <p:spPr>
          <a:xfrm>
            <a:off x="4526280" y="2103120"/>
            <a:ext cx="1188720" cy="502920"/>
          </a:xfrm>
          <a:prstGeom prst="rect">
            <a:avLst/>
          </a:prstGeom>
          <a:noFill/>
          <a:ln/>
        </p:spPr>
        <p:txBody>
          <a:bodyPr wrap="square" rtlCol="0" anchor="ctr"/>
          <a:lstStyle/>
          <a:p>
            <a:pPr marL="0" indent="0" algn="ctr">
              <a:buNone/>
            </a:pPr>
            <a:r>
              <a:rPr lang="en-US" sz="950" b="1" dirty="0">
                <a:solidFill>
                  <a:srgbClr val="0D2545"/>
                </a:solidFill>
                <a:latin typeface="Calibri" pitchFamily="34" charset="0"/>
                <a:ea typeface="Calibri" pitchFamily="34" charset="-122"/>
                <a:cs typeface="Calibri" pitchFamily="34" charset="-120"/>
              </a:rPr>
              <a:t>Eval</a:t>
            </a:r>
            <a:endParaRPr lang="en-US" sz="950" dirty="0"/>
          </a:p>
          <a:p>
            <a:pPr marL="0" indent="0" algn="ctr">
              <a:buNone/>
            </a:pPr>
            <a:r>
              <a:rPr lang="en-US" sz="950" b="1" dirty="0">
                <a:solidFill>
                  <a:srgbClr val="0D2545"/>
                </a:solidFill>
                <a:latin typeface="Calibri" pitchFamily="34" charset="0"/>
                <a:ea typeface="Calibri" pitchFamily="34" charset="-122"/>
                <a:cs typeface="Calibri" pitchFamily="34" charset="-120"/>
              </a:rPr>
              <a:t>Script</a:t>
            </a:r>
            <a:endParaRPr lang="en-US" sz="950" dirty="0"/>
          </a:p>
        </p:txBody>
      </p:sp>
      <p:sp>
        <p:nvSpPr>
          <p:cNvPr id="21" name="Shape 17"/>
          <p:cNvSpPr/>
          <p:nvPr/>
        </p:nvSpPr>
        <p:spPr>
          <a:xfrm>
            <a:off x="5641848" y="1508760"/>
            <a:ext cx="429768" cy="0"/>
          </a:xfrm>
          <a:prstGeom prst="line">
            <a:avLst/>
          </a:prstGeom>
          <a:noFill/>
          <a:ln w="25400">
            <a:solidFill>
              <a:srgbClr val="94A3B8"/>
            </a:solidFill>
            <a:prstDash val="solid"/>
          </a:ln>
        </p:spPr>
        <p:txBody>
          <a:bodyPr/>
          <a:lstStyle/>
          <a:p>
            <a:endParaRPr lang="en-IN"/>
          </a:p>
        </p:txBody>
      </p:sp>
      <p:sp>
        <p:nvSpPr>
          <p:cNvPr id="22" name="Shape 18"/>
          <p:cNvSpPr/>
          <p:nvPr/>
        </p:nvSpPr>
        <p:spPr>
          <a:xfrm>
            <a:off x="6080760" y="1005840"/>
            <a:ext cx="1005840" cy="1005840"/>
          </a:xfrm>
          <a:prstGeom prst="ellipse">
            <a:avLst/>
          </a:prstGeom>
          <a:solidFill>
            <a:srgbClr val="DC2626"/>
          </a:solidFill>
          <a:ln w="12700">
            <a:solidFill>
              <a:srgbClr val="DC2626"/>
            </a:solidFill>
            <a:prstDash val="solid"/>
          </a:ln>
        </p:spPr>
        <p:txBody>
          <a:bodyPr/>
          <a:lstStyle/>
          <a:p>
            <a:endParaRPr lang="en-IN"/>
          </a:p>
        </p:txBody>
      </p:sp>
      <p:sp>
        <p:nvSpPr>
          <p:cNvPr id="23" name="Text 19"/>
          <p:cNvSpPr/>
          <p:nvPr/>
        </p:nvSpPr>
        <p:spPr>
          <a:xfrm>
            <a:off x="6080760" y="1005840"/>
            <a:ext cx="1005840" cy="1005840"/>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24" name="Text 20"/>
          <p:cNvSpPr/>
          <p:nvPr/>
        </p:nvSpPr>
        <p:spPr>
          <a:xfrm>
            <a:off x="5989320" y="2103120"/>
            <a:ext cx="1188720" cy="502920"/>
          </a:xfrm>
          <a:prstGeom prst="rect">
            <a:avLst/>
          </a:prstGeom>
          <a:noFill/>
          <a:ln/>
        </p:spPr>
        <p:txBody>
          <a:bodyPr wrap="square" rtlCol="0" anchor="ctr"/>
          <a:lstStyle/>
          <a:p>
            <a:pPr marL="0" indent="0" algn="ctr">
              <a:buNone/>
            </a:pPr>
            <a:r>
              <a:rPr lang="en-US" sz="950" b="1" dirty="0">
                <a:solidFill>
                  <a:srgbClr val="0D2545"/>
                </a:solidFill>
                <a:latin typeface="Calibri" pitchFamily="34" charset="0"/>
                <a:ea typeface="Calibri" pitchFamily="34" charset="-122"/>
                <a:cs typeface="Calibri" pitchFamily="34" charset="-120"/>
              </a:rPr>
              <a:t>Vision</a:t>
            </a:r>
            <a:endParaRPr lang="en-US" sz="950" dirty="0"/>
          </a:p>
          <a:p>
            <a:pPr marL="0" indent="0" algn="ctr">
              <a:buNone/>
            </a:pPr>
            <a:r>
              <a:rPr lang="en-US" sz="950" b="1" dirty="0">
                <a:solidFill>
                  <a:srgbClr val="0D2545"/>
                </a:solidFill>
                <a:latin typeface="Calibri" pitchFamily="34" charset="0"/>
                <a:ea typeface="Calibri" pitchFamily="34" charset="-122"/>
                <a:cs typeface="Calibri" pitchFamily="34" charset="-120"/>
              </a:rPr>
              <a:t>Models</a:t>
            </a:r>
            <a:endParaRPr lang="en-US" sz="950" dirty="0"/>
          </a:p>
        </p:txBody>
      </p:sp>
      <p:sp>
        <p:nvSpPr>
          <p:cNvPr id="25" name="Shape 21"/>
          <p:cNvSpPr/>
          <p:nvPr/>
        </p:nvSpPr>
        <p:spPr>
          <a:xfrm>
            <a:off x="7104888" y="1508760"/>
            <a:ext cx="429768" cy="0"/>
          </a:xfrm>
          <a:prstGeom prst="line">
            <a:avLst/>
          </a:prstGeom>
          <a:noFill/>
          <a:ln w="25400">
            <a:solidFill>
              <a:srgbClr val="94A3B8"/>
            </a:solidFill>
            <a:prstDash val="solid"/>
          </a:ln>
        </p:spPr>
        <p:txBody>
          <a:bodyPr/>
          <a:lstStyle/>
          <a:p>
            <a:endParaRPr lang="en-IN"/>
          </a:p>
        </p:txBody>
      </p:sp>
      <p:sp>
        <p:nvSpPr>
          <p:cNvPr id="26" name="Shape 22"/>
          <p:cNvSpPr/>
          <p:nvPr/>
        </p:nvSpPr>
        <p:spPr>
          <a:xfrm>
            <a:off x="7543800" y="1005840"/>
            <a:ext cx="1005840" cy="1005840"/>
          </a:xfrm>
          <a:prstGeom prst="ellipse">
            <a:avLst/>
          </a:prstGeom>
          <a:solidFill>
            <a:srgbClr val="0D2545"/>
          </a:solidFill>
          <a:ln w="12700">
            <a:solidFill>
              <a:srgbClr val="0D2545"/>
            </a:solidFill>
            <a:prstDash val="solid"/>
          </a:ln>
        </p:spPr>
        <p:txBody>
          <a:bodyPr/>
          <a:lstStyle/>
          <a:p>
            <a:endParaRPr lang="en-IN"/>
          </a:p>
        </p:txBody>
      </p:sp>
      <p:sp>
        <p:nvSpPr>
          <p:cNvPr id="27" name="Text 23"/>
          <p:cNvSpPr/>
          <p:nvPr/>
        </p:nvSpPr>
        <p:spPr>
          <a:xfrm>
            <a:off x="7543800" y="1005840"/>
            <a:ext cx="1005840" cy="1005840"/>
          </a:xfrm>
          <a:prstGeom prst="rect">
            <a:avLst/>
          </a:prstGeom>
          <a:noFill/>
          <a:ln/>
        </p:spPr>
        <p:txBody>
          <a:bodyPr wrap="square" lIns="0" tIns="0" rIns="0" bIns="0" rtlCol="0" anchor="ctr"/>
          <a:lstStyle/>
          <a:p>
            <a:pPr marL="0" indent="0" algn="ctr">
              <a:buNone/>
            </a:pPr>
            <a:r>
              <a:rPr lang="en-US" sz="2200" b="1" dirty="0">
                <a:solidFill>
                  <a:srgbClr val="FFFFFF"/>
                </a:solidFill>
              </a:rPr>
              <a:t>6</a:t>
            </a:r>
            <a:endParaRPr lang="en-US" sz="2200" dirty="0"/>
          </a:p>
        </p:txBody>
      </p:sp>
      <p:sp>
        <p:nvSpPr>
          <p:cNvPr id="28" name="Text 24"/>
          <p:cNvSpPr/>
          <p:nvPr/>
        </p:nvSpPr>
        <p:spPr>
          <a:xfrm>
            <a:off x="7452360" y="2103120"/>
            <a:ext cx="1188720" cy="502920"/>
          </a:xfrm>
          <a:prstGeom prst="rect">
            <a:avLst/>
          </a:prstGeom>
          <a:noFill/>
          <a:ln/>
        </p:spPr>
        <p:txBody>
          <a:bodyPr wrap="square" rtlCol="0" anchor="ctr"/>
          <a:lstStyle/>
          <a:p>
            <a:pPr marL="0" indent="0" algn="ctr">
              <a:buNone/>
            </a:pPr>
            <a:r>
              <a:rPr lang="en-US" sz="950" b="1" dirty="0">
                <a:solidFill>
                  <a:srgbClr val="0D2545"/>
                </a:solidFill>
                <a:latin typeface="Calibri" pitchFamily="34" charset="0"/>
                <a:ea typeface="Calibri" pitchFamily="34" charset="-122"/>
                <a:cs typeface="Calibri" pitchFamily="34" charset="-120"/>
              </a:rPr>
              <a:t>MedSAM</a:t>
            </a:r>
            <a:endParaRPr lang="en-US" sz="950" dirty="0"/>
          </a:p>
          <a:p>
            <a:pPr marL="0" indent="0" algn="ctr">
              <a:buNone/>
            </a:pPr>
            <a:r>
              <a:rPr lang="en-US" sz="950" b="1" dirty="0">
                <a:solidFill>
                  <a:srgbClr val="0D2545"/>
                </a:solidFill>
                <a:latin typeface="Calibri" pitchFamily="34" charset="0"/>
                <a:ea typeface="Calibri" pitchFamily="34" charset="-122"/>
                <a:cs typeface="Calibri" pitchFamily="34" charset="-120"/>
              </a:rPr>
              <a:t>Inference</a:t>
            </a:r>
            <a:endParaRPr lang="en-US" sz="950" dirty="0"/>
          </a:p>
        </p:txBody>
      </p:sp>
      <p:sp>
        <p:nvSpPr>
          <p:cNvPr id="29" name="Shape 25"/>
          <p:cNvSpPr/>
          <p:nvPr/>
        </p:nvSpPr>
        <p:spPr>
          <a:xfrm>
            <a:off x="274320" y="2743200"/>
            <a:ext cx="2834640" cy="228600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IN"/>
          </a:p>
        </p:txBody>
      </p:sp>
      <p:sp>
        <p:nvSpPr>
          <p:cNvPr id="30" name="Shape 26"/>
          <p:cNvSpPr/>
          <p:nvPr/>
        </p:nvSpPr>
        <p:spPr>
          <a:xfrm>
            <a:off x="274320" y="2743200"/>
            <a:ext cx="54864" cy="2286000"/>
          </a:xfrm>
          <a:prstGeom prst="rect">
            <a:avLst/>
          </a:prstGeom>
          <a:solidFill>
            <a:srgbClr val="0E7490"/>
          </a:solidFill>
          <a:ln w="12700">
            <a:solidFill>
              <a:srgbClr val="0E7490"/>
            </a:solidFill>
            <a:prstDash val="solid"/>
          </a:ln>
        </p:spPr>
        <p:txBody>
          <a:bodyPr/>
          <a:lstStyle/>
          <a:p>
            <a:endParaRPr lang="en-IN"/>
          </a:p>
        </p:txBody>
      </p:sp>
      <p:sp>
        <p:nvSpPr>
          <p:cNvPr id="31" name="Text 27"/>
          <p:cNvSpPr/>
          <p:nvPr/>
        </p:nvSpPr>
        <p:spPr>
          <a:xfrm>
            <a:off x="411480" y="2788920"/>
            <a:ext cx="2651760" cy="384048"/>
          </a:xfrm>
          <a:prstGeom prst="rect">
            <a:avLst/>
          </a:prstGeom>
          <a:noFill/>
          <a:ln/>
        </p:spPr>
        <p:txBody>
          <a:bodyPr wrap="square" rtlCol="0" anchor="ctr"/>
          <a:lstStyle/>
          <a:p>
            <a:pPr marL="0" indent="0">
              <a:buNone/>
            </a:pPr>
            <a:r>
              <a:rPr lang="en-US" sz="1150" b="1" dirty="0">
                <a:solidFill>
                  <a:srgbClr val="0D2545"/>
                </a:solidFill>
                <a:latin typeface="Calibri" pitchFamily="34" charset="0"/>
                <a:ea typeface="Calibri" pitchFamily="34" charset="-122"/>
                <a:cs typeface="Calibri" pitchFamily="34" charset="-120"/>
              </a:rPr>
              <a:t>Stage 1–2: Data Preparation</a:t>
            </a:r>
            <a:endParaRPr lang="en-US" sz="1150" dirty="0"/>
          </a:p>
        </p:txBody>
      </p:sp>
      <p:sp>
        <p:nvSpPr>
          <p:cNvPr id="32" name="Text 28"/>
          <p:cNvSpPr/>
          <p:nvPr/>
        </p:nvSpPr>
        <p:spPr>
          <a:xfrm>
            <a:off x="411480" y="3200400"/>
            <a:ext cx="2651760" cy="1737360"/>
          </a:xfrm>
          <a:prstGeom prst="rect">
            <a:avLst/>
          </a:prstGeom>
          <a:noFill/>
          <a:ln/>
        </p:spPr>
        <p:txBody>
          <a:bodyPr wrap="square" rtlCol="0" anchor="ctr"/>
          <a:lstStyle/>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Parsed metadata.json to extract bounding boxes (4-corner → x1,y1,x2,y2). Built OpenCV pipeline to split 14 videos into 85 finding-based clips (30-frame padding), colour-coded ground truth overlays.</a:t>
            </a:r>
            <a:endParaRPr lang="en-US" sz="1000" dirty="0"/>
          </a:p>
          <a:p>
            <a:pPr marL="0" indent="0">
              <a:lnSpc>
                <a:spcPct val="120000"/>
              </a:lnSpc>
              <a:buNone/>
            </a:pPr>
            <a:endParaRPr lang="en-US" sz="1000" dirty="0"/>
          </a:p>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Class distribution: Ulcer (29), Erosion (46), Blood-fresh (9), Polyp (1)</a:t>
            </a:r>
            <a:endParaRPr lang="en-US" sz="1000" dirty="0"/>
          </a:p>
        </p:txBody>
      </p:sp>
      <p:sp>
        <p:nvSpPr>
          <p:cNvPr id="33" name="Shape 29"/>
          <p:cNvSpPr/>
          <p:nvPr/>
        </p:nvSpPr>
        <p:spPr>
          <a:xfrm>
            <a:off x="3246120" y="2743200"/>
            <a:ext cx="2834640" cy="228600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IN"/>
          </a:p>
        </p:txBody>
      </p:sp>
      <p:sp>
        <p:nvSpPr>
          <p:cNvPr id="34" name="Shape 30"/>
          <p:cNvSpPr/>
          <p:nvPr/>
        </p:nvSpPr>
        <p:spPr>
          <a:xfrm>
            <a:off x="3246120" y="2743200"/>
            <a:ext cx="54864" cy="2286000"/>
          </a:xfrm>
          <a:prstGeom prst="rect">
            <a:avLst/>
          </a:prstGeom>
          <a:solidFill>
            <a:srgbClr val="0E7490"/>
          </a:solidFill>
          <a:ln w="12700">
            <a:solidFill>
              <a:srgbClr val="0E7490"/>
            </a:solidFill>
            <a:prstDash val="solid"/>
          </a:ln>
        </p:spPr>
        <p:txBody>
          <a:bodyPr/>
          <a:lstStyle/>
          <a:p>
            <a:endParaRPr lang="en-IN"/>
          </a:p>
        </p:txBody>
      </p:sp>
      <p:sp>
        <p:nvSpPr>
          <p:cNvPr id="35" name="Text 31"/>
          <p:cNvSpPr/>
          <p:nvPr/>
        </p:nvSpPr>
        <p:spPr>
          <a:xfrm>
            <a:off x="3383280" y="2788920"/>
            <a:ext cx="2651760" cy="384048"/>
          </a:xfrm>
          <a:prstGeom prst="rect">
            <a:avLst/>
          </a:prstGeom>
          <a:noFill/>
          <a:ln/>
        </p:spPr>
        <p:txBody>
          <a:bodyPr wrap="square" rtlCol="0" anchor="ctr"/>
          <a:lstStyle/>
          <a:p>
            <a:pPr marL="0" indent="0">
              <a:buNone/>
            </a:pPr>
            <a:r>
              <a:rPr lang="en-US" sz="1150" b="1" dirty="0">
                <a:solidFill>
                  <a:srgbClr val="0D2545"/>
                </a:solidFill>
                <a:latin typeface="Calibri" pitchFamily="34" charset="0"/>
                <a:ea typeface="Calibri" pitchFamily="34" charset="-122"/>
                <a:cs typeface="Calibri" pitchFamily="34" charset="-120"/>
              </a:rPr>
              <a:t>Stage 3–4: Assembly &amp; Validation</a:t>
            </a:r>
            <a:endParaRPr lang="en-US" sz="1150" dirty="0"/>
          </a:p>
        </p:txBody>
      </p:sp>
      <p:sp>
        <p:nvSpPr>
          <p:cNvPr id="36" name="Text 32"/>
          <p:cNvSpPr/>
          <p:nvPr/>
        </p:nvSpPr>
        <p:spPr>
          <a:xfrm>
            <a:off x="3383280" y="3200400"/>
            <a:ext cx="2651760" cy="1737360"/>
          </a:xfrm>
          <a:prstGeom prst="rect">
            <a:avLst/>
          </a:prstGeom>
          <a:noFill/>
          <a:ln/>
        </p:spPr>
        <p:txBody>
          <a:bodyPr wrap="square" rtlCol="0" anchor="ctr"/>
          <a:lstStyle/>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MoviePy used to assemble annotated clip videos and highlight reels. Random baseline predictor validated pipeline (F1: 0.3412, Mean IoU: 0.074). Metrics: Precision, Recall, F1, IoU, Dice (micro + macro).</a:t>
            </a:r>
            <a:endParaRPr lang="en-US" sz="1000" dirty="0"/>
          </a:p>
        </p:txBody>
      </p:sp>
      <p:sp>
        <p:nvSpPr>
          <p:cNvPr id="37" name="Shape 33"/>
          <p:cNvSpPr/>
          <p:nvPr/>
        </p:nvSpPr>
        <p:spPr>
          <a:xfrm>
            <a:off x="6217920" y="2743200"/>
            <a:ext cx="2834640" cy="228600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IN"/>
          </a:p>
        </p:txBody>
      </p:sp>
      <p:sp>
        <p:nvSpPr>
          <p:cNvPr id="38" name="Shape 34"/>
          <p:cNvSpPr/>
          <p:nvPr/>
        </p:nvSpPr>
        <p:spPr>
          <a:xfrm>
            <a:off x="6217920" y="2743200"/>
            <a:ext cx="54864" cy="2286000"/>
          </a:xfrm>
          <a:prstGeom prst="rect">
            <a:avLst/>
          </a:prstGeom>
          <a:solidFill>
            <a:srgbClr val="0E7490"/>
          </a:solidFill>
          <a:ln w="12700">
            <a:solidFill>
              <a:srgbClr val="0E7490"/>
            </a:solidFill>
            <a:prstDash val="solid"/>
          </a:ln>
        </p:spPr>
        <p:txBody>
          <a:bodyPr/>
          <a:lstStyle/>
          <a:p>
            <a:endParaRPr lang="en-IN"/>
          </a:p>
        </p:txBody>
      </p:sp>
      <p:sp>
        <p:nvSpPr>
          <p:cNvPr id="39" name="Text 35"/>
          <p:cNvSpPr/>
          <p:nvPr/>
        </p:nvSpPr>
        <p:spPr>
          <a:xfrm>
            <a:off x="6355080" y="2788920"/>
            <a:ext cx="2651760" cy="384048"/>
          </a:xfrm>
          <a:prstGeom prst="rect">
            <a:avLst/>
          </a:prstGeom>
          <a:noFill/>
          <a:ln/>
        </p:spPr>
        <p:txBody>
          <a:bodyPr wrap="square" rtlCol="0" anchor="ctr"/>
          <a:lstStyle/>
          <a:p>
            <a:pPr marL="0" indent="0">
              <a:buNone/>
            </a:pPr>
            <a:r>
              <a:rPr lang="en-US" sz="1150" b="1" dirty="0">
                <a:solidFill>
                  <a:srgbClr val="0D2545"/>
                </a:solidFill>
                <a:latin typeface="Calibri" pitchFamily="34" charset="0"/>
                <a:ea typeface="Calibri" pitchFamily="34" charset="-122"/>
                <a:cs typeface="Calibri" pitchFamily="34" charset="-120"/>
              </a:rPr>
              <a:t>Stage 5–6: Model Evaluation</a:t>
            </a:r>
            <a:endParaRPr lang="en-US" sz="1150" dirty="0"/>
          </a:p>
        </p:txBody>
      </p:sp>
      <p:sp>
        <p:nvSpPr>
          <p:cNvPr id="40" name="Text 36"/>
          <p:cNvSpPr/>
          <p:nvPr/>
        </p:nvSpPr>
        <p:spPr>
          <a:xfrm>
            <a:off x="6355080" y="3200400"/>
            <a:ext cx="2651760" cy="1737360"/>
          </a:xfrm>
          <a:prstGeom prst="rect">
            <a:avLst/>
          </a:prstGeom>
          <a:noFill/>
          <a:ln/>
        </p:spPr>
        <p:txBody>
          <a:bodyPr wrap="square" rtlCol="0" anchor="ctr"/>
          <a:lstStyle/>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CLIP / BLIP-2 / LLaVA tested on 40 sampled images via HuggingFace API. MedSAM (</a:t>
            </a:r>
            <a:r>
              <a:rPr lang="en-US" sz="1000" dirty="0" err="1">
                <a:solidFill>
                  <a:srgbClr val="475569"/>
                </a:solidFill>
                <a:latin typeface="Calibri" pitchFamily="34" charset="0"/>
                <a:ea typeface="Calibri" pitchFamily="34" charset="-122"/>
                <a:cs typeface="Calibri" pitchFamily="34" charset="-120"/>
              </a:rPr>
              <a:t>medsam_vit_b.pth</a:t>
            </a:r>
            <a:r>
              <a:rPr lang="en-US" sz="1000" dirty="0">
                <a:solidFill>
                  <a:srgbClr val="475569"/>
                </a:solidFill>
                <a:latin typeface="Calibri" pitchFamily="34" charset="0"/>
                <a:ea typeface="Calibri" pitchFamily="34" charset="-122"/>
                <a:cs typeface="Calibri" pitchFamily="34" charset="-120"/>
              </a:rPr>
              <a:t>) batched across all 85 clips using GT boxes as prompts → 237 segmentation masks generated.</a:t>
            </a:r>
            <a:endParaRPr lang="en-US" sz="1000" dirty="0"/>
          </a:p>
        </p:txBody>
      </p:sp>
      <p:sp>
        <p:nvSpPr>
          <p:cNvPr id="41" name="TextBox 40">
            <a:extLst>
              <a:ext uri="{FF2B5EF4-FFF2-40B4-BE49-F238E27FC236}">
                <a16:creationId xmlns:a16="http://schemas.microsoft.com/office/drawing/2014/main" id="{FA5244B3-EA2F-B4F7-553F-04CB93E3359C}"/>
              </a:ext>
            </a:extLst>
          </p:cNvPr>
          <p:cNvSpPr txBox="1"/>
          <p:nvPr/>
        </p:nvSpPr>
        <p:spPr>
          <a:xfrm>
            <a:off x="4038964" y="14776"/>
            <a:ext cx="4579256" cy="307777"/>
          </a:xfrm>
          <a:prstGeom prst="rect">
            <a:avLst/>
          </a:prstGeom>
          <a:noFill/>
        </p:spPr>
        <p:txBody>
          <a:bodyPr wrap="square">
            <a:spAutoFit/>
          </a:bodyPr>
          <a:lstStyle/>
          <a:p>
            <a:r>
              <a:rPr lang="en-US" sz="1400" dirty="0">
                <a:solidFill>
                  <a:schemeClr val="bg1"/>
                </a:solidFill>
              </a:rPr>
              <a:t>Page 5</a:t>
            </a:r>
            <a:endParaRPr lang="en-IN" sz="14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545"/>
          </a:solidFill>
          <a:ln w="12700">
            <a:solidFill>
              <a:srgbClr val="0D2545"/>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164592" y="91440"/>
            <a:ext cx="777240" cy="777240"/>
          </a:xfrm>
          <a:prstGeom prst="rect">
            <a:avLst/>
          </a:prstGeom>
        </p:spPr>
      </p:pic>
      <p:pic>
        <p:nvPicPr>
          <p:cNvPr id="4" name="Image 1" descr="preencoded.png"/>
          <p:cNvPicPr>
            <a:picLocks noChangeAspect="1"/>
          </p:cNvPicPr>
          <p:nvPr/>
        </p:nvPicPr>
        <p:blipFill>
          <a:blip r:embed="rId4"/>
          <a:stretch>
            <a:fillRect/>
          </a:stretch>
        </p:blipFill>
        <p:spPr>
          <a:xfrm>
            <a:off x="8229600" y="91440"/>
            <a:ext cx="777240" cy="777240"/>
          </a:xfrm>
          <a:prstGeom prst="rect">
            <a:avLst/>
          </a:prstGeom>
        </p:spPr>
      </p:pic>
      <p:sp>
        <p:nvSpPr>
          <p:cNvPr id="5" name="Text 1"/>
          <p:cNvSpPr/>
          <p:nvPr/>
        </p:nvSpPr>
        <p:spPr>
          <a:xfrm>
            <a:off x="1097280" y="137160"/>
            <a:ext cx="694944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Dataset &amp; Data Pipeline</a:t>
            </a:r>
            <a:endParaRPr lang="en-US" sz="2200" dirty="0"/>
          </a:p>
        </p:txBody>
      </p:sp>
      <p:sp>
        <p:nvSpPr>
          <p:cNvPr id="6" name="Shape 2"/>
          <p:cNvSpPr/>
          <p:nvPr/>
        </p:nvSpPr>
        <p:spPr>
          <a:xfrm>
            <a:off x="274320" y="1005840"/>
            <a:ext cx="2011680" cy="1463040"/>
          </a:xfrm>
          <a:prstGeom prst="rect">
            <a:avLst/>
          </a:prstGeom>
          <a:solidFill>
            <a:srgbClr val="E2E8F0"/>
          </a:solidFill>
          <a:ln w="12700">
            <a:solidFill>
              <a:srgbClr val="94A3B8"/>
            </a:solidFill>
            <a:prstDash val="solid"/>
          </a:ln>
        </p:spPr>
        <p:txBody>
          <a:bodyPr/>
          <a:lstStyle/>
          <a:p>
            <a:endParaRPr lang="en-IN"/>
          </a:p>
        </p:txBody>
      </p:sp>
      <p:sp>
        <p:nvSpPr>
          <p:cNvPr id="7" name="Text 3"/>
          <p:cNvSpPr/>
          <p:nvPr/>
        </p:nvSpPr>
        <p:spPr>
          <a:xfrm>
            <a:off x="274320" y="1005840"/>
            <a:ext cx="2011680" cy="146304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 Ulcer ]</a:t>
            </a:r>
            <a:endParaRPr lang="en-US" sz="1000" dirty="0"/>
          </a:p>
          <a:p>
            <a:pPr marL="0" indent="0" algn="ctr">
              <a:buNone/>
            </a:pPr>
            <a:r>
              <a:rPr lang="en-US" sz="1000" i="1" dirty="0">
                <a:solidFill>
                  <a:srgbClr val="94A3B8"/>
                </a:solidFill>
                <a:latin typeface="Calibri" pitchFamily="34" charset="0"/>
                <a:ea typeface="Calibri" pitchFamily="34" charset="-122"/>
                <a:cs typeface="Calibri" pitchFamily="34" charset="-120"/>
              </a:rPr>
              <a:t>Sample Frame</a:t>
            </a:r>
            <a:endParaRPr lang="en-US" sz="1000" dirty="0"/>
          </a:p>
          <a:p>
            <a:pPr marL="0" indent="0" algn="ctr">
              <a:buNone/>
            </a:pPr>
            <a:r>
              <a:rPr lang="en-US" sz="1000" i="1" dirty="0">
                <a:solidFill>
                  <a:srgbClr val="94A3B8"/>
                </a:solidFill>
                <a:latin typeface="Calibri" pitchFamily="34" charset="0"/>
                <a:ea typeface="Calibri" pitchFamily="34" charset="-122"/>
                <a:cs typeface="Calibri" pitchFamily="34" charset="-120"/>
              </a:rPr>
              <a:t>Placeholder</a:t>
            </a:r>
            <a:endParaRPr lang="en-US" sz="1000" dirty="0"/>
          </a:p>
        </p:txBody>
      </p:sp>
      <p:sp>
        <p:nvSpPr>
          <p:cNvPr id="8" name="Text 4"/>
          <p:cNvSpPr/>
          <p:nvPr/>
        </p:nvSpPr>
        <p:spPr>
          <a:xfrm>
            <a:off x="274320" y="2514600"/>
            <a:ext cx="2011680" cy="256032"/>
          </a:xfrm>
          <a:prstGeom prst="rect">
            <a:avLst/>
          </a:prstGeom>
          <a:noFill/>
          <a:ln/>
        </p:spPr>
        <p:txBody>
          <a:bodyPr wrap="square" rtlCol="0" anchor="ctr"/>
          <a:lstStyle/>
          <a:p>
            <a:pPr marL="0" indent="0" algn="ctr">
              <a:buNone/>
            </a:pPr>
            <a:r>
              <a:rPr lang="en-US" sz="1100" b="1" dirty="0">
                <a:solidFill>
                  <a:srgbClr val="0D2545"/>
                </a:solidFill>
                <a:latin typeface="Calibri" pitchFamily="34" charset="0"/>
                <a:ea typeface="Calibri" pitchFamily="34" charset="-122"/>
                <a:cs typeface="Calibri" pitchFamily="34" charset="-120"/>
              </a:rPr>
              <a:t>Ulcer</a:t>
            </a:r>
            <a:endParaRPr lang="en-US" sz="1100" dirty="0"/>
          </a:p>
        </p:txBody>
      </p:sp>
      <p:sp>
        <p:nvSpPr>
          <p:cNvPr id="9" name="Shape 5"/>
          <p:cNvSpPr/>
          <p:nvPr/>
        </p:nvSpPr>
        <p:spPr>
          <a:xfrm>
            <a:off x="2441448" y="1005840"/>
            <a:ext cx="2011680" cy="1463040"/>
          </a:xfrm>
          <a:prstGeom prst="rect">
            <a:avLst/>
          </a:prstGeom>
          <a:solidFill>
            <a:srgbClr val="E2E8F0"/>
          </a:solidFill>
          <a:ln w="12700">
            <a:solidFill>
              <a:srgbClr val="94A3B8"/>
            </a:solidFill>
            <a:prstDash val="solid"/>
          </a:ln>
        </p:spPr>
        <p:txBody>
          <a:bodyPr/>
          <a:lstStyle/>
          <a:p>
            <a:endParaRPr lang="en-IN"/>
          </a:p>
        </p:txBody>
      </p:sp>
      <p:sp>
        <p:nvSpPr>
          <p:cNvPr id="10" name="Text 6"/>
          <p:cNvSpPr/>
          <p:nvPr/>
        </p:nvSpPr>
        <p:spPr>
          <a:xfrm>
            <a:off x="2441448" y="1005840"/>
            <a:ext cx="2011680" cy="146304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 Erosion ]</a:t>
            </a:r>
            <a:endParaRPr lang="en-US" sz="1000" dirty="0"/>
          </a:p>
          <a:p>
            <a:pPr marL="0" indent="0" algn="ctr">
              <a:buNone/>
            </a:pPr>
            <a:r>
              <a:rPr lang="en-US" sz="1000" i="1" dirty="0">
                <a:solidFill>
                  <a:srgbClr val="94A3B8"/>
                </a:solidFill>
                <a:latin typeface="Calibri" pitchFamily="34" charset="0"/>
                <a:ea typeface="Calibri" pitchFamily="34" charset="-122"/>
                <a:cs typeface="Calibri" pitchFamily="34" charset="-120"/>
              </a:rPr>
              <a:t>Sample Frame</a:t>
            </a:r>
            <a:endParaRPr lang="en-US" sz="1000" dirty="0"/>
          </a:p>
          <a:p>
            <a:pPr marL="0" indent="0" algn="ctr">
              <a:buNone/>
            </a:pPr>
            <a:r>
              <a:rPr lang="en-US" sz="1000" i="1" dirty="0">
                <a:solidFill>
                  <a:srgbClr val="94A3B8"/>
                </a:solidFill>
                <a:latin typeface="Calibri" pitchFamily="34" charset="0"/>
                <a:ea typeface="Calibri" pitchFamily="34" charset="-122"/>
                <a:cs typeface="Calibri" pitchFamily="34" charset="-120"/>
              </a:rPr>
              <a:t>Placeholder</a:t>
            </a:r>
            <a:endParaRPr lang="en-US" sz="1000" dirty="0"/>
          </a:p>
        </p:txBody>
      </p:sp>
      <p:sp>
        <p:nvSpPr>
          <p:cNvPr id="11" name="Text 7"/>
          <p:cNvSpPr/>
          <p:nvPr/>
        </p:nvSpPr>
        <p:spPr>
          <a:xfrm>
            <a:off x="2441448" y="2514600"/>
            <a:ext cx="2011680" cy="256032"/>
          </a:xfrm>
          <a:prstGeom prst="rect">
            <a:avLst/>
          </a:prstGeom>
          <a:noFill/>
          <a:ln/>
        </p:spPr>
        <p:txBody>
          <a:bodyPr wrap="square" rtlCol="0" anchor="ctr"/>
          <a:lstStyle/>
          <a:p>
            <a:pPr marL="0" indent="0" algn="ctr">
              <a:buNone/>
            </a:pPr>
            <a:r>
              <a:rPr lang="en-US" sz="1100" b="1" dirty="0">
                <a:solidFill>
                  <a:srgbClr val="0D2545"/>
                </a:solidFill>
                <a:latin typeface="Calibri" pitchFamily="34" charset="0"/>
                <a:ea typeface="Calibri" pitchFamily="34" charset="-122"/>
                <a:cs typeface="Calibri" pitchFamily="34" charset="-120"/>
              </a:rPr>
              <a:t>Erosion</a:t>
            </a:r>
            <a:endParaRPr lang="en-US" sz="1100" dirty="0"/>
          </a:p>
        </p:txBody>
      </p:sp>
      <p:sp>
        <p:nvSpPr>
          <p:cNvPr id="12" name="Shape 8"/>
          <p:cNvSpPr/>
          <p:nvPr/>
        </p:nvSpPr>
        <p:spPr>
          <a:xfrm>
            <a:off x="4608576" y="1005840"/>
            <a:ext cx="2011680" cy="1463040"/>
          </a:xfrm>
          <a:prstGeom prst="rect">
            <a:avLst/>
          </a:prstGeom>
          <a:solidFill>
            <a:srgbClr val="E2E8F0"/>
          </a:solidFill>
          <a:ln w="12700">
            <a:solidFill>
              <a:srgbClr val="94A3B8"/>
            </a:solidFill>
            <a:prstDash val="solid"/>
          </a:ln>
        </p:spPr>
        <p:txBody>
          <a:bodyPr/>
          <a:lstStyle/>
          <a:p>
            <a:endParaRPr lang="en-IN"/>
          </a:p>
        </p:txBody>
      </p:sp>
      <p:sp>
        <p:nvSpPr>
          <p:cNvPr id="13" name="Text 9"/>
          <p:cNvSpPr/>
          <p:nvPr/>
        </p:nvSpPr>
        <p:spPr>
          <a:xfrm>
            <a:off x="4608576" y="1005840"/>
            <a:ext cx="2011680" cy="146304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 Blood-fresh ]</a:t>
            </a:r>
            <a:endParaRPr lang="en-US" sz="1000" dirty="0"/>
          </a:p>
          <a:p>
            <a:pPr marL="0" indent="0" algn="ctr">
              <a:buNone/>
            </a:pPr>
            <a:r>
              <a:rPr lang="en-US" sz="1000" i="1" dirty="0">
                <a:solidFill>
                  <a:srgbClr val="94A3B8"/>
                </a:solidFill>
                <a:latin typeface="Calibri" pitchFamily="34" charset="0"/>
                <a:ea typeface="Calibri" pitchFamily="34" charset="-122"/>
                <a:cs typeface="Calibri" pitchFamily="34" charset="-120"/>
              </a:rPr>
              <a:t>Sample Frame</a:t>
            </a:r>
            <a:endParaRPr lang="en-US" sz="1000" dirty="0"/>
          </a:p>
          <a:p>
            <a:pPr marL="0" indent="0" algn="ctr">
              <a:buNone/>
            </a:pPr>
            <a:r>
              <a:rPr lang="en-US" sz="1000" i="1" dirty="0">
                <a:solidFill>
                  <a:srgbClr val="94A3B8"/>
                </a:solidFill>
                <a:latin typeface="Calibri" pitchFamily="34" charset="0"/>
                <a:ea typeface="Calibri" pitchFamily="34" charset="-122"/>
                <a:cs typeface="Calibri" pitchFamily="34" charset="-120"/>
              </a:rPr>
              <a:t>Placeholder</a:t>
            </a:r>
            <a:endParaRPr lang="en-US" sz="1000" dirty="0"/>
          </a:p>
        </p:txBody>
      </p:sp>
      <p:sp>
        <p:nvSpPr>
          <p:cNvPr id="14" name="Text 10"/>
          <p:cNvSpPr/>
          <p:nvPr/>
        </p:nvSpPr>
        <p:spPr>
          <a:xfrm>
            <a:off x="4608576" y="2514600"/>
            <a:ext cx="2011680" cy="256032"/>
          </a:xfrm>
          <a:prstGeom prst="rect">
            <a:avLst/>
          </a:prstGeom>
          <a:noFill/>
          <a:ln/>
        </p:spPr>
        <p:txBody>
          <a:bodyPr wrap="square" rtlCol="0" anchor="ctr"/>
          <a:lstStyle/>
          <a:p>
            <a:pPr marL="0" indent="0" algn="ctr">
              <a:buNone/>
            </a:pPr>
            <a:r>
              <a:rPr lang="en-US" sz="1100" b="1" dirty="0">
                <a:solidFill>
                  <a:srgbClr val="0D2545"/>
                </a:solidFill>
                <a:latin typeface="Calibri" pitchFamily="34" charset="0"/>
                <a:ea typeface="Calibri" pitchFamily="34" charset="-122"/>
                <a:cs typeface="Calibri" pitchFamily="34" charset="-120"/>
              </a:rPr>
              <a:t>Blood-fresh</a:t>
            </a:r>
            <a:endParaRPr lang="en-US" sz="1100" dirty="0"/>
          </a:p>
        </p:txBody>
      </p:sp>
      <p:sp>
        <p:nvSpPr>
          <p:cNvPr id="15" name="Shape 11"/>
          <p:cNvSpPr/>
          <p:nvPr/>
        </p:nvSpPr>
        <p:spPr>
          <a:xfrm>
            <a:off x="6775704" y="1005840"/>
            <a:ext cx="2011680" cy="1463040"/>
          </a:xfrm>
          <a:prstGeom prst="rect">
            <a:avLst/>
          </a:prstGeom>
          <a:solidFill>
            <a:srgbClr val="E2E8F0"/>
          </a:solidFill>
          <a:ln w="12700">
            <a:solidFill>
              <a:srgbClr val="94A3B8"/>
            </a:solidFill>
            <a:prstDash val="solid"/>
          </a:ln>
        </p:spPr>
        <p:txBody>
          <a:bodyPr/>
          <a:lstStyle/>
          <a:p>
            <a:endParaRPr lang="en-IN"/>
          </a:p>
        </p:txBody>
      </p:sp>
      <p:sp>
        <p:nvSpPr>
          <p:cNvPr id="16" name="Text 12"/>
          <p:cNvSpPr/>
          <p:nvPr/>
        </p:nvSpPr>
        <p:spPr>
          <a:xfrm>
            <a:off x="6775704" y="1005840"/>
            <a:ext cx="2011680" cy="146304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 Polyp ]</a:t>
            </a:r>
            <a:endParaRPr lang="en-US" sz="1000" dirty="0"/>
          </a:p>
          <a:p>
            <a:pPr marL="0" indent="0" algn="ctr">
              <a:buNone/>
            </a:pPr>
            <a:r>
              <a:rPr lang="en-US" sz="1000" i="1" dirty="0">
                <a:solidFill>
                  <a:srgbClr val="94A3B8"/>
                </a:solidFill>
                <a:latin typeface="Calibri" pitchFamily="34" charset="0"/>
                <a:ea typeface="Calibri" pitchFamily="34" charset="-122"/>
                <a:cs typeface="Calibri" pitchFamily="34" charset="-120"/>
              </a:rPr>
              <a:t>Sample Frame</a:t>
            </a:r>
            <a:endParaRPr lang="en-US" sz="1000" dirty="0"/>
          </a:p>
          <a:p>
            <a:pPr marL="0" indent="0" algn="ctr">
              <a:buNone/>
            </a:pPr>
            <a:r>
              <a:rPr lang="en-US" sz="1000" i="1" dirty="0">
                <a:solidFill>
                  <a:srgbClr val="94A3B8"/>
                </a:solidFill>
                <a:latin typeface="Calibri" pitchFamily="34" charset="0"/>
                <a:ea typeface="Calibri" pitchFamily="34" charset="-122"/>
                <a:cs typeface="Calibri" pitchFamily="34" charset="-120"/>
              </a:rPr>
              <a:t>Placeholder</a:t>
            </a:r>
            <a:endParaRPr lang="en-US" sz="1000" dirty="0"/>
          </a:p>
        </p:txBody>
      </p:sp>
      <p:sp>
        <p:nvSpPr>
          <p:cNvPr id="17" name="Text 13"/>
          <p:cNvSpPr/>
          <p:nvPr/>
        </p:nvSpPr>
        <p:spPr>
          <a:xfrm>
            <a:off x="6775704" y="2514600"/>
            <a:ext cx="2011680" cy="256032"/>
          </a:xfrm>
          <a:prstGeom prst="rect">
            <a:avLst/>
          </a:prstGeom>
          <a:noFill/>
          <a:ln/>
        </p:spPr>
        <p:txBody>
          <a:bodyPr wrap="square" rtlCol="0" anchor="ctr"/>
          <a:lstStyle/>
          <a:p>
            <a:pPr marL="0" indent="0" algn="ctr">
              <a:buNone/>
            </a:pPr>
            <a:r>
              <a:rPr lang="en-US" sz="1100" b="1" dirty="0">
                <a:solidFill>
                  <a:srgbClr val="0D2545"/>
                </a:solidFill>
                <a:latin typeface="Calibri" pitchFamily="34" charset="0"/>
                <a:ea typeface="Calibri" pitchFamily="34" charset="-122"/>
                <a:cs typeface="Calibri" pitchFamily="34" charset="-120"/>
              </a:rPr>
              <a:t>Polyp</a:t>
            </a:r>
            <a:endParaRPr lang="en-US" sz="1100" dirty="0"/>
          </a:p>
        </p:txBody>
      </p:sp>
      <p:sp>
        <p:nvSpPr>
          <p:cNvPr id="18" name="Shape 14"/>
          <p:cNvSpPr/>
          <p:nvPr/>
        </p:nvSpPr>
        <p:spPr>
          <a:xfrm>
            <a:off x="274320" y="2880360"/>
            <a:ext cx="1600200" cy="868680"/>
          </a:xfrm>
          <a:prstGeom prst="rect">
            <a:avLst/>
          </a:prstGeom>
          <a:solidFill>
            <a:srgbClr val="0D2545"/>
          </a:solidFill>
          <a:ln w="12700">
            <a:solidFill>
              <a:srgbClr val="0E7490"/>
            </a:solidFill>
            <a:prstDash val="solid"/>
          </a:ln>
        </p:spPr>
        <p:txBody>
          <a:bodyPr/>
          <a:lstStyle/>
          <a:p>
            <a:endParaRPr lang="en-IN"/>
          </a:p>
        </p:txBody>
      </p:sp>
      <p:sp>
        <p:nvSpPr>
          <p:cNvPr id="19" name="Text 15"/>
          <p:cNvSpPr/>
          <p:nvPr/>
        </p:nvSpPr>
        <p:spPr>
          <a:xfrm>
            <a:off x="274320" y="2880360"/>
            <a:ext cx="1600200" cy="457200"/>
          </a:xfrm>
          <a:prstGeom prst="rect">
            <a:avLst/>
          </a:prstGeom>
          <a:noFill/>
          <a:ln/>
        </p:spPr>
        <p:txBody>
          <a:bodyPr wrap="square" lIns="0" tIns="0" rIns="0" bIns="0" rtlCol="0" anchor="b"/>
          <a:lstStyle/>
          <a:p>
            <a:pPr marL="0" indent="0" algn="ctr">
              <a:buNone/>
            </a:pPr>
            <a:r>
              <a:rPr lang="en-US" sz="2000" b="1" dirty="0">
                <a:solidFill>
                  <a:srgbClr val="F59E0B"/>
                </a:solidFill>
                <a:latin typeface="Calibri" pitchFamily="34" charset="0"/>
                <a:ea typeface="Calibri" pitchFamily="34" charset="-122"/>
                <a:cs typeface="Calibri" pitchFamily="34" charset="-120"/>
              </a:rPr>
              <a:t>117</a:t>
            </a:r>
            <a:endParaRPr lang="en-US" sz="2000" dirty="0"/>
          </a:p>
        </p:txBody>
      </p:sp>
      <p:sp>
        <p:nvSpPr>
          <p:cNvPr id="20" name="Text 16"/>
          <p:cNvSpPr/>
          <p:nvPr/>
        </p:nvSpPr>
        <p:spPr>
          <a:xfrm>
            <a:off x="274320" y="3337560"/>
            <a:ext cx="1600200" cy="411480"/>
          </a:xfrm>
          <a:prstGeom prst="rect">
            <a:avLst/>
          </a:prstGeom>
          <a:noFill/>
          <a:ln/>
        </p:spPr>
        <p:txBody>
          <a:bodyPr wrap="square" lIns="0" tIns="0" rIns="0" bIns="0" rtlCol="0" anchor="t"/>
          <a:lstStyle/>
          <a:p>
            <a:pPr marL="0" indent="0" algn="ctr">
              <a:buNone/>
            </a:pPr>
            <a:r>
              <a:rPr lang="en-US" sz="900" dirty="0">
                <a:solidFill>
                  <a:srgbClr val="94A3B8"/>
                </a:solidFill>
                <a:latin typeface="Calibri" pitchFamily="34" charset="0"/>
                <a:ea typeface="Calibri" pitchFamily="34" charset="-122"/>
                <a:cs typeface="Calibri" pitchFamily="34" charset="-120"/>
              </a:rPr>
              <a:t>Labelled Videos</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(full dataset)</a:t>
            </a:r>
            <a:endParaRPr lang="en-US" sz="900" dirty="0"/>
          </a:p>
        </p:txBody>
      </p:sp>
      <p:sp>
        <p:nvSpPr>
          <p:cNvPr id="21" name="Shape 17"/>
          <p:cNvSpPr/>
          <p:nvPr/>
        </p:nvSpPr>
        <p:spPr>
          <a:xfrm>
            <a:off x="2011680" y="2880360"/>
            <a:ext cx="1600200" cy="868680"/>
          </a:xfrm>
          <a:prstGeom prst="rect">
            <a:avLst/>
          </a:prstGeom>
          <a:solidFill>
            <a:srgbClr val="0D2545"/>
          </a:solidFill>
          <a:ln w="12700">
            <a:solidFill>
              <a:srgbClr val="0E7490"/>
            </a:solidFill>
            <a:prstDash val="solid"/>
          </a:ln>
        </p:spPr>
        <p:txBody>
          <a:bodyPr/>
          <a:lstStyle/>
          <a:p>
            <a:endParaRPr lang="en-IN"/>
          </a:p>
        </p:txBody>
      </p:sp>
      <p:sp>
        <p:nvSpPr>
          <p:cNvPr id="22" name="Text 18"/>
          <p:cNvSpPr/>
          <p:nvPr/>
        </p:nvSpPr>
        <p:spPr>
          <a:xfrm>
            <a:off x="2011680" y="2880360"/>
            <a:ext cx="1600200" cy="457200"/>
          </a:xfrm>
          <a:prstGeom prst="rect">
            <a:avLst/>
          </a:prstGeom>
          <a:noFill/>
          <a:ln/>
        </p:spPr>
        <p:txBody>
          <a:bodyPr wrap="square" lIns="0" tIns="0" rIns="0" bIns="0" rtlCol="0" anchor="b"/>
          <a:lstStyle/>
          <a:p>
            <a:pPr marL="0" indent="0" algn="ctr">
              <a:buNone/>
            </a:pPr>
            <a:r>
              <a:rPr lang="en-US" sz="2000" b="1" dirty="0">
                <a:solidFill>
                  <a:srgbClr val="F59E0B"/>
                </a:solidFill>
                <a:latin typeface="Calibri" pitchFamily="34" charset="0"/>
                <a:ea typeface="Calibri" pitchFamily="34" charset="-122"/>
                <a:cs typeface="Calibri" pitchFamily="34" charset="-120"/>
              </a:rPr>
              <a:t>4.7M+</a:t>
            </a:r>
            <a:endParaRPr lang="en-US" sz="2000" dirty="0"/>
          </a:p>
        </p:txBody>
      </p:sp>
      <p:sp>
        <p:nvSpPr>
          <p:cNvPr id="23" name="Text 19"/>
          <p:cNvSpPr/>
          <p:nvPr/>
        </p:nvSpPr>
        <p:spPr>
          <a:xfrm>
            <a:off x="2011680" y="3337560"/>
            <a:ext cx="1600200" cy="411480"/>
          </a:xfrm>
          <a:prstGeom prst="rect">
            <a:avLst/>
          </a:prstGeom>
          <a:noFill/>
          <a:ln/>
        </p:spPr>
        <p:txBody>
          <a:bodyPr wrap="square" lIns="0" tIns="0" rIns="0" bIns="0" rtlCol="0" anchor="t"/>
          <a:lstStyle/>
          <a:p>
            <a:pPr marL="0" indent="0" algn="ctr">
              <a:buNone/>
            </a:pPr>
            <a:r>
              <a:rPr lang="en-US" sz="900" dirty="0">
                <a:solidFill>
                  <a:srgbClr val="94A3B8"/>
                </a:solidFill>
                <a:latin typeface="Calibri" pitchFamily="34" charset="0"/>
                <a:ea typeface="Calibri" pitchFamily="34" charset="-122"/>
                <a:cs typeface="Calibri" pitchFamily="34" charset="-120"/>
              </a:rPr>
              <a:t>Total Frames</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in dataset</a:t>
            </a:r>
            <a:endParaRPr lang="en-US" sz="900" dirty="0"/>
          </a:p>
        </p:txBody>
      </p:sp>
      <p:sp>
        <p:nvSpPr>
          <p:cNvPr id="24" name="Shape 20"/>
          <p:cNvSpPr/>
          <p:nvPr/>
        </p:nvSpPr>
        <p:spPr>
          <a:xfrm>
            <a:off x="3749040" y="2880360"/>
            <a:ext cx="1600200" cy="868680"/>
          </a:xfrm>
          <a:prstGeom prst="rect">
            <a:avLst/>
          </a:prstGeom>
          <a:solidFill>
            <a:srgbClr val="0D2545"/>
          </a:solidFill>
          <a:ln w="12700">
            <a:solidFill>
              <a:srgbClr val="0E7490"/>
            </a:solidFill>
            <a:prstDash val="solid"/>
          </a:ln>
        </p:spPr>
        <p:txBody>
          <a:bodyPr/>
          <a:lstStyle/>
          <a:p>
            <a:endParaRPr lang="en-IN"/>
          </a:p>
        </p:txBody>
      </p:sp>
      <p:sp>
        <p:nvSpPr>
          <p:cNvPr id="25" name="Text 21"/>
          <p:cNvSpPr/>
          <p:nvPr/>
        </p:nvSpPr>
        <p:spPr>
          <a:xfrm>
            <a:off x="3749040" y="2880360"/>
            <a:ext cx="1600200" cy="457200"/>
          </a:xfrm>
          <a:prstGeom prst="rect">
            <a:avLst/>
          </a:prstGeom>
          <a:noFill/>
          <a:ln/>
        </p:spPr>
        <p:txBody>
          <a:bodyPr wrap="square" lIns="0" tIns="0" rIns="0" bIns="0" rtlCol="0" anchor="b"/>
          <a:lstStyle/>
          <a:p>
            <a:pPr marL="0" indent="0" algn="ctr">
              <a:buNone/>
            </a:pPr>
            <a:r>
              <a:rPr lang="en-US" sz="2000" b="1" dirty="0">
                <a:solidFill>
                  <a:srgbClr val="F59E0B"/>
                </a:solidFill>
                <a:latin typeface="Calibri" pitchFamily="34" charset="0"/>
                <a:ea typeface="Calibri" pitchFamily="34" charset="-122"/>
                <a:cs typeface="Calibri" pitchFamily="34" charset="-120"/>
              </a:rPr>
              <a:t>14</a:t>
            </a:r>
            <a:endParaRPr lang="en-US" sz="2000" dirty="0"/>
          </a:p>
        </p:txBody>
      </p:sp>
      <p:sp>
        <p:nvSpPr>
          <p:cNvPr id="26" name="Text 22"/>
          <p:cNvSpPr/>
          <p:nvPr/>
        </p:nvSpPr>
        <p:spPr>
          <a:xfrm>
            <a:off x="3749040" y="3337560"/>
            <a:ext cx="1600200" cy="411480"/>
          </a:xfrm>
          <a:prstGeom prst="rect">
            <a:avLst/>
          </a:prstGeom>
          <a:noFill/>
          <a:ln/>
        </p:spPr>
        <p:txBody>
          <a:bodyPr wrap="square" lIns="0" tIns="0" rIns="0" bIns="0" rtlCol="0" anchor="t"/>
          <a:lstStyle/>
          <a:p>
            <a:pPr marL="0" indent="0" algn="ctr">
              <a:buNone/>
            </a:pPr>
            <a:r>
              <a:rPr lang="en-US" sz="900" dirty="0">
                <a:solidFill>
                  <a:srgbClr val="94A3B8"/>
                </a:solidFill>
                <a:latin typeface="Calibri" pitchFamily="34" charset="0"/>
                <a:ea typeface="Calibri" pitchFamily="34" charset="-122"/>
                <a:cs typeface="Calibri" pitchFamily="34" charset="-120"/>
              </a:rPr>
              <a:t>Finding</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Classes</a:t>
            </a:r>
            <a:endParaRPr lang="en-US" sz="900" dirty="0"/>
          </a:p>
        </p:txBody>
      </p:sp>
      <p:sp>
        <p:nvSpPr>
          <p:cNvPr id="27" name="Shape 23"/>
          <p:cNvSpPr/>
          <p:nvPr/>
        </p:nvSpPr>
        <p:spPr>
          <a:xfrm>
            <a:off x="5486400" y="2880360"/>
            <a:ext cx="1600200" cy="868680"/>
          </a:xfrm>
          <a:prstGeom prst="rect">
            <a:avLst/>
          </a:prstGeom>
          <a:solidFill>
            <a:srgbClr val="0D2545"/>
          </a:solidFill>
          <a:ln w="12700">
            <a:solidFill>
              <a:srgbClr val="0E7490"/>
            </a:solidFill>
            <a:prstDash val="solid"/>
          </a:ln>
        </p:spPr>
        <p:txBody>
          <a:bodyPr/>
          <a:lstStyle/>
          <a:p>
            <a:endParaRPr lang="en-IN"/>
          </a:p>
        </p:txBody>
      </p:sp>
      <p:sp>
        <p:nvSpPr>
          <p:cNvPr id="28" name="Text 24"/>
          <p:cNvSpPr/>
          <p:nvPr/>
        </p:nvSpPr>
        <p:spPr>
          <a:xfrm>
            <a:off x="5486400" y="2880360"/>
            <a:ext cx="1600200" cy="457200"/>
          </a:xfrm>
          <a:prstGeom prst="rect">
            <a:avLst/>
          </a:prstGeom>
          <a:noFill/>
          <a:ln/>
        </p:spPr>
        <p:txBody>
          <a:bodyPr wrap="square" lIns="0" tIns="0" rIns="0" bIns="0" rtlCol="0" anchor="b"/>
          <a:lstStyle/>
          <a:p>
            <a:pPr marL="0" indent="0" algn="ctr">
              <a:buNone/>
            </a:pPr>
            <a:r>
              <a:rPr lang="en-US" sz="2000" b="1" dirty="0">
                <a:solidFill>
                  <a:srgbClr val="F59E0B"/>
                </a:solidFill>
                <a:latin typeface="Calibri" pitchFamily="34" charset="0"/>
                <a:ea typeface="Calibri" pitchFamily="34" charset="-122"/>
                <a:cs typeface="Calibri" pitchFamily="34" charset="-120"/>
              </a:rPr>
              <a:t>85</a:t>
            </a:r>
            <a:endParaRPr lang="en-US" sz="2000" dirty="0"/>
          </a:p>
        </p:txBody>
      </p:sp>
      <p:sp>
        <p:nvSpPr>
          <p:cNvPr id="29" name="Text 25"/>
          <p:cNvSpPr/>
          <p:nvPr/>
        </p:nvSpPr>
        <p:spPr>
          <a:xfrm>
            <a:off x="5486400" y="3337560"/>
            <a:ext cx="1600200" cy="411480"/>
          </a:xfrm>
          <a:prstGeom prst="rect">
            <a:avLst/>
          </a:prstGeom>
          <a:noFill/>
          <a:ln/>
        </p:spPr>
        <p:txBody>
          <a:bodyPr wrap="square" lIns="0" tIns="0" rIns="0" bIns="0" rtlCol="0" anchor="t"/>
          <a:lstStyle/>
          <a:p>
            <a:pPr marL="0" indent="0" algn="ctr">
              <a:buNone/>
            </a:pPr>
            <a:r>
              <a:rPr lang="en-US" sz="900" dirty="0">
                <a:solidFill>
                  <a:srgbClr val="94A3B8"/>
                </a:solidFill>
                <a:latin typeface="Calibri" pitchFamily="34" charset="0"/>
                <a:ea typeface="Calibri" pitchFamily="34" charset="-122"/>
                <a:cs typeface="Calibri" pitchFamily="34" charset="-120"/>
              </a:rPr>
              <a:t>Clips Generated</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(4 classes)</a:t>
            </a:r>
            <a:endParaRPr lang="en-US" sz="900" dirty="0"/>
          </a:p>
        </p:txBody>
      </p:sp>
      <p:sp>
        <p:nvSpPr>
          <p:cNvPr id="30" name="Shape 26"/>
          <p:cNvSpPr/>
          <p:nvPr/>
        </p:nvSpPr>
        <p:spPr>
          <a:xfrm>
            <a:off x="7223760" y="2880360"/>
            <a:ext cx="1600200" cy="868680"/>
          </a:xfrm>
          <a:prstGeom prst="rect">
            <a:avLst/>
          </a:prstGeom>
          <a:solidFill>
            <a:srgbClr val="0D2545"/>
          </a:solidFill>
          <a:ln w="12700">
            <a:solidFill>
              <a:srgbClr val="0E7490"/>
            </a:solidFill>
            <a:prstDash val="solid"/>
          </a:ln>
        </p:spPr>
        <p:txBody>
          <a:bodyPr/>
          <a:lstStyle/>
          <a:p>
            <a:endParaRPr lang="en-IN"/>
          </a:p>
        </p:txBody>
      </p:sp>
      <p:sp>
        <p:nvSpPr>
          <p:cNvPr id="31" name="Text 27"/>
          <p:cNvSpPr/>
          <p:nvPr/>
        </p:nvSpPr>
        <p:spPr>
          <a:xfrm>
            <a:off x="7223760" y="2880360"/>
            <a:ext cx="1600200" cy="457200"/>
          </a:xfrm>
          <a:prstGeom prst="rect">
            <a:avLst/>
          </a:prstGeom>
          <a:noFill/>
          <a:ln/>
        </p:spPr>
        <p:txBody>
          <a:bodyPr wrap="square" lIns="0" tIns="0" rIns="0" bIns="0" rtlCol="0" anchor="b"/>
          <a:lstStyle/>
          <a:p>
            <a:pPr marL="0" indent="0" algn="ctr">
              <a:buNone/>
            </a:pPr>
            <a:r>
              <a:rPr lang="en-US" sz="2000" b="1" dirty="0">
                <a:solidFill>
                  <a:srgbClr val="F59E0B"/>
                </a:solidFill>
                <a:latin typeface="Calibri" pitchFamily="34" charset="0"/>
                <a:ea typeface="Calibri" pitchFamily="34" charset="-122"/>
                <a:cs typeface="Calibri" pitchFamily="34" charset="-120"/>
              </a:rPr>
              <a:t>1,862</a:t>
            </a:r>
            <a:endParaRPr lang="en-US" sz="2000" dirty="0"/>
          </a:p>
        </p:txBody>
      </p:sp>
      <p:sp>
        <p:nvSpPr>
          <p:cNvPr id="32" name="Text 28"/>
          <p:cNvSpPr/>
          <p:nvPr/>
        </p:nvSpPr>
        <p:spPr>
          <a:xfrm>
            <a:off x="7223760" y="3337560"/>
            <a:ext cx="1600200" cy="411480"/>
          </a:xfrm>
          <a:prstGeom prst="rect">
            <a:avLst/>
          </a:prstGeom>
          <a:noFill/>
          <a:ln/>
        </p:spPr>
        <p:txBody>
          <a:bodyPr wrap="square" lIns="0" tIns="0" rIns="0" bIns="0" rtlCol="0" anchor="t"/>
          <a:lstStyle/>
          <a:p>
            <a:pPr marL="0" indent="0" algn="ctr">
              <a:buNone/>
            </a:pPr>
            <a:r>
              <a:rPr lang="en-US" sz="900" dirty="0">
                <a:solidFill>
                  <a:srgbClr val="94A3B8"/>
                </a:solidFill>
                <a:latin typeface="Calibri" pitchFamily="34" charset="0"/>
                <a:ea typeface="Calibri" pitchFamily="34" charset="-122"/>
                <a:cs typeface="Calibri" pitchFamily="34" charset="-120"/>
              </a:rPr>
              <a:t>Annotated</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Frames used (across 4 classes)</a:t>
            </a:r>
            <a:endParaRPr lang="en-US" sz="900" dirty="0"/>
          </a:p>
        </p:txBody>
      </p:sp>
      <p:sp>
        <p:nvSpPr>
          <p:cNvPr id="33" name="Shape 29"/>
          <p:cNvSpPr/>
          <p:nvPr/>
        </p:nvSpPr>
        <p:spPr>
          <a:xfrm>
            <a:off x="274320" y="3858768"/>
            <a:ext cx="8595360" cy="1051560"/>
          </a:xfrm>
          <a:prstGeom prst="rect">
            <a:avLst/>
          </a:prstGeom>
          <a:solidFill>
            <a:srgbClr val="FFFFFF"/>
          </a:solidFill>
          <a:ln w="12700">
            <a:solidFill>
              <a:srgbClr val="E2E8F0"/>
            </a:solidFill>
            <a:prstDash val="solid"/>
          </a:ln>
        </p:spPr>
        <p:txBody>
          <a:bodyPr/>
          <a:lstStyle/>
          <a:p>
            <a:endParaRPr lang="en-IN"/>
          </a:p>
        </p:txBody>
      </p:sp>
      <p:sp>
        <p:nvSpPr>
          <p:cNvPr id="34" name="Text 30"/>
          <p:cNvSpPr/>
          <p:nvPr/>
        </p:nvSpPr>
        <p:spPr>
          <a:xfrm>
            <a:off x="411480" y="3931920"/>
            <a:ext cx="1188720" cy="320040"/>
          </a:xfrm>
          <a:prstGeom prst="rect">
            <a:avLst/>
          </a:prstGeom>
          <a:noFill/>
          <a:ln/>
        </p:spPr>
        <p:txBody>
          <a:bodyPr wrap="square" rtlCol="0" anchor="ctr"/>
          <a:lstStyle/>
          <a:p>
            <a:pPr marL="0" indent="0">
              <a:buNone/>
            </a:pPr>
            <a:r>
              <a:rPr lang="en-US" sz="1100" b="1" dirty="0">
                <a:solidFill>
                  <a:srgbClr val="0E7490"/>
                </a:solidFill>
                <a:latin typeface="Calibri" pitchFamily="34" charset="0"/>
                <a:ea typeface="Calibri" pitchFamily="34" charset="-122"/>
                <a:cs typeface="Calibri" pitchFamily="34" charset="-120"/>
              </a:rPr>
              <a:t>Pipeline Steps: </a:t>
            </a:r>
            <a:endParaRPr lang="en-US" sz="1100" dirty="0"/>
          </a:p>
        </p:txBody>
      </p:sp>
      <p:sp>
        <p:nvSpPr>
          <p:cNvPr id="35" name="Text 31"/>
          <p:cNvSpPr/>
          <p:nvPr/>
        </p:nvSpPr>
        <p:spPr>
          <a:xfrm>
            <a:off x="411480" y="4251960"/>
            <a:ext cx="8321040" cy="594360"/>
          </a:xfrm>
          <a:prstGeom prst="rect">
            <a:avLst/>
          </a:prstGeom>
          <a:noFill/>
          <a:ln/>
        </p:spPr>
        <p:txBody>
          <a:bodyPr wrap="square" rtlCol="0" anchor="ctr"/>
          <a:lstStyle/>
          <a:p>
            <a:pPr>
              <a:lnSpc>
                <a:spcPct val="120000"/>
              </a:lnSpc>
            </a:pPr>
            <a:r>
              <a:rPr lang="en-US" sz="1100" dirty="0">
                <a:solidFill>
                  <a:srgbClr val="475569"/>
                </a:solidFill>
                <a:latin typeface="Calibri" pitchFamily="34" charset="0"/>
                <a:ea typeface="Calibri" pitchFamily="34" charset="-122"/>
                <a:cs typeface="Calibri" pitchFamily="34" charset="-120"/>
              </a:rPr>
              <a:t>metadata. Json → BB extraction → Frame extraction → MedSAM inference → Segmentation masks → Metrics (</a:t>
            </a:r>
            <a:r>
              <a:rPr lang="en-US" sz="1100" dirty="0" err="1">
                <a:solidFill>
                  <a:srgbClr val="475569"/>
                </a:solidFill>
                <a:latin typeface="Calibri" pitchFamily="34" charset="0"/>
                <a:ea typeface="Calibri" pitchFamily="34" charset="-122"/>
                <a:cs typeface="Calibri" pitchFamily="34" charset="-120"/>
              </a:rPr>
              <a:t>IoU</a:t>
            </a:r>
            <a:r>
              <a:rPr lang="en-US" sz="1100" dirty="0">
                <a:solidFill>
                  <a:srgbClr val="475569"/>
                </a:solidFill>
                <a:latin typeface="Calibri" pitchFamily="34" charset="0"/>
                <a:ea typeface="Calibri" pitchFamily="34" charset="-122"/>
                <a:cs typeface="Calibri" pitchFamily="34" charset="-120"/>
              </a:rPr>
              <a:t>, Dice, F1) → Paper benchmark comparison</a:t>
            </a:r>
            <a:endParaRPr lang="en-US" sz="1100" dirty="0"/>
          </a:p>
        </p:txBody>
      </p:sp>
      <p:pic>
        <p:nvPicPr>
          <p:cNvPr id="40" name="Picture 39">
            <a:extLst>
              <a:ext uri="{FF2B5EF4-FFF2-40B4-BE49-F238E27FC236}">
                <a16:creationId xmlns:a16="http://schemas.microsoft.com/office/drawing/2014/main" id="{1F5EDFA2-14E8-35A6-D671-B6DB33684A47}"/>
              </a:ext>
            </a:extLst>
          </p:cNvPr>
          <p:cNvPicPr>
            <a:picLocks noChangeAspect="1"/>
          </p:cNvPicPr>
          <p:nvPr/>
        </p:nvPicPr>
        <p:blipFill>
          <a:blip r:embed="rId5"/>
          <a:stretch>
            <a:fillRect/>
          </a:stretch>
        </p:blipFill>
        <p:spPr>
          <a:xfrm>
            <a:off x="4608576" y="1000016"/>
            <a:ext cx="2016523" cy="1472400"/>
          </a:xfrm>
          <a:prstGeom prst="rect">
            <a:avLst/>
          </a:prstGeom>
        </p:spPr>
      </p:pic>
      <p:pic>
        <p:nvPicPr>
          <p:cNvPr id="42" name="Picture 41">
            <a:extLst>
              <a:ext uri="{FF2B5EF4-FFF2-40B4-BE49-F238E27FC236}">
                <a16:creationId xmlns:a16="http://schemas.microsoft.com/office/drawing/2014/main" id="{06BE440E-3EFF-291D-D86D-B9035DC03C27}"/>
              </a:ext>
            </a:extLst>
          </p:cNvPr>
          <p:cNvPicPr>
            <a:picLocks noChangeAspect="1"/>
          </p:cNvPicPr>
          <p:nvPr/>
        </p:nvPicPr>
        <p:blipFill>
          <a:blip r:embed="rId6"/>
          <a:stretch>
            <a:fillRect/>
          </a:stretch>
        </p:blipFill>
        <p:spPr>
          <a:xfrm>
            <a:off x="2440728" y="1024128"/>
            <a:ext cx="2012400" cy="1444752"/>
          </a:xfrm>
          <a:prstGeom prst="rect">
            <a:avLst/>
          </a:prstGeom>
        </p:spPr>
      </p:pic>
      <p:pic>
        <p:nvPicPr>
          <p:cNvPr id="44" name="Picture 43">
            <a:extLst>
              <a:ext uri="{FF2B5EF4-FFF2-40B4-BE49-F238E27FC236}">
                <a16:creationId xmlns:a16="http://schemas.microsoft.com/office/drawing/2014/main" id="{1838AAA1-C2B4-7313-892B-71AB5C655818}"/>
              </a:ext>
            </a:extLst>
          </p:cNvPr>
          <p:cNvPicPr>
            <a:picLocks noChangeAspect="1"/>
          </p:cNvPicPr>
          <p:nvPr/>
        </p:nvPicPr>
        <p:blipFill>
          <a:blip r:embed="rId7"/>
          <a:stretch>
            <a:fillRect/>
          </a:stretch>
        </p:blipFill>
        <p:spPr>
          <a:xfrm>
            <a:off x="6775704" y="1005840"/>
            <a:ext cx="2011680" cy="1472400"/>
          </a:xfrm>
          <a:prstGeom prst="rect">
            <a:avLst/>
          </a:prstGeom>
        </p:spPr>
      </p:pic>
      <p:pic>
        <p:nvPicPr>
          <p:cNvPr id="46" name="Picture 45">
            <a:extLst>
              <a:ext uri="{FF2B5EF4-FFF2-40B4-BE49-F238E27FC236}">
                <a16:creationId xmlns:a16="http://schemas.microsoft.com/office/drawing/2014/main" id="{BC78CEDF-6546-50BD-3FDD-5991D0D33709}"/>
              </a:ext>
            </a:extLst>
          </p:cNvPr>
          <p:cNvPicPr>
            <a:picLocks noChangeAspect="1"/>
          </p:cNvPicPr>
          <p:nvPr/>
        </p:nvPicPr>
        <p:blipFill>
          <a:blip r:embed="rId8"/>
          <a:stretch>
            <a:fillRect/>
          </a:stretch>
        </p:blipFill>
        <p:spPr>
          <a:xfrm>
            <a:off x="272880" y="1005840"/>
            <a:ext cx="2025275" cy="1472400"/>
          </a:xfrm>
          <a:prstGeom prst="rect">
            <a:avLst/>
          </a:prstGeom>
        </p:spPr>
      </p:pic>
      <p:sp>
        <p:nvSpPr>
          <p:cNvPr id="36" name="TextBox 35">
            <a:extLst>
              <a:ext uri="{FF2B5EF4-FFF2-40B4-BE49-F238E27FC236}">
                <a16:creationId xmlns:a16="http://schemas.microsoft.com/office/drawing/2014/main" id="{A3B834C9-D52C-5373-3CC1-DB4D2B42A227}"/>
              </a:ext>
            </a:extLst>
          </p:cNvPr>
          <p:cNvSpPr txBox="1"/>
          <p:nvPr/>
        </p:nvSpPr>
        <p:spPr>
          <a:xfrm>
            <a:off x="4038964" y="14776"/>
            <a:ext cx="4579256" cy="307777"/>
          </a:xfrm>
          <a:prstGeom prst="rect">
            <a:avLst/>
          </a:prstGeom>
          <a:noFill/>
        </p:spPr>
        <p:txBody>
          <a:bodyPr wrap="square">
            <a:spAutoFit/>
          </a:bodyPr>
          <a:lstStyle/>
          <a:p>
            <a:r>
              <a:rPr lang="en-US" sz="1400" dirty="0">
                <a:solidFill>
                  <a:schemeClr val="bg1"/>
                </a:solidFill>
              </a:rPr>
              <a:t>Page 6</a:t>
            </a:r>
            <a:endParaRPr lang="en-IN" sz="14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545"/>
          </a:solidFill>
          <a:ln w="12700">
            <a:solidFill>
              <a:srgbClr val="0D2545"/>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164592" y="91440"/>
            <a:ext cx="777240" cy="777240"/>
          </a:xfrm>
          <a:prstGeom prst="rect">
            <a:avLst/>
          </a:prstGeom>
        </p:spPr>
      </p:pic>
      <p:pic>
        <p:nvPicPr>
          <p:cNvPr id="4" name="Image 1" descr="preencoded.png"/>
          <p:cNvPicPr>
            <a:picLocks noChangeAspect="1"/>
          </p:cNvPicPr>
          <p:nvPr/>
        </p:nvPicPr>
        <p:blipFill>
          <a:blip r:embed="rId4"/>
          <a:stretch>
            <a:fillRect/>
          </a:stretch>
        </p:blipFill>
        <p:spPr>
          <a:xfrm>
            <a:off x="8229600" y="91440"/>
            <a:ext cx="777240" cy="777240"/>
          </a:xfrm>
          <a:prstGeom prst="rect">
            <a:avLst/>
          </a:prstGeom>
        </p:spPr>
      </p:pic>
      <p:sp>
        <p:nvSpPr>
          <p:cNvPr id="5" name="Text 1"/>
          <p:cNvSpPr/>
          <p:nvPr/>
        </p:nvSpPr>
        <p:spPr>
          <a:xfrm>
            <a:off x="1097280" y="137160"/>
            <a:ext cx="694944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Off-the-Shelf Vision Models — Results</a:t>
            </a:r>
            <a:endParaRPr lang="en-US" sz="2200" dirty="0"/>
          </a:p>
        </p:txBody>
      </p:sp>
      <p:sp>
        <p:nvSpPr>
          <p:cNvPr id="6" name="Shape 2"/>
          <p:cNvSpPr/>
          <p:nvPr/>
        </p:nvSpPr>
        <p:spPr>
          <a:xfrm>
            <a:off x="274320" y="1005840"/>
            <a:ext cx="2743200" cy="38404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IN"/>
          </a:p>
        </p:txBody>
      </p:sp>
      <p:sp>
        <p:nvSpPr>
          <p:cNvPr id="7" name="Shape 3"/>
          <p:cNvSpPr/>
          <p:nvPr/>
        </p:nvSpPr>
        <p:spPr>
          <a:xfrm>
            <a:off x="274320" y="1005840"/>
            <a:ext cx="2743200" cy="384048"/>
          </a:xfrm>
          <a:prstGeom prst="rect">
            <a:avLst/>
          </a:prstGeom>
          <a:solidFill>
            <a:srgbClr val="0E7490"/>
          </a:solidFill>
          <a:ln w="12700">
            <a:solidFill>
              <a:srgbClr val="0E7490"/>
            </a:solidFill>
            <a:prstDash val="solid"/>
          </a:ln>
        </p:spPr>
        <p:txBody>
          <a:bodyPr/>
          <a:lstStyle/>
          <a:p>
            <a:endParaRPr lang="en-IN"/>
          </a:p>
        </p:txBody>
      </p:sp>
      <p:sp>
        <p:nvSpPr>
          <p:cNvPr id="8" name="Text 4"/>
          <p:cNvSpPr/>
          <p:nvPr/>
        </p:nvSpPr>
        <p:spPr>
          <a:xfrm>
            <a:off x="320040" y="1005840"/>
            <a:ext cx="2651760" cy="38404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CLIP  (OpenAI/clip-vit-base-patch32)</a:t>
            </a:r>
            <a:endParaRPr lang="en-US" sz="1200" dirty="0"/>
          </a:p>
        </p:txBody>
      </p:sp>
      <p:sp>
        <p:nvSpPr>
          <p:cNvPr id="9" name="Text 5"/>
          <p:cNvSpPr/>
          <p:nvPr/>
        </p:nvSpPr>
        <p:spPr>
          <a:xfrm>
            <a:off x="384048" y="1463040"/>
            <a:ext cx="2560320" cy="3246120"/>
          </a:xfrm>
          <a:prstGeom prst="rect">
            <a:avLst/>
          </a:prstGeom>
          <a:noFill/>
          <a:ln/>
        </p:spPr>
        <p:txBody>
          <a:bodyPr wrap="square" rtlCol="0" anchor="ctr"/>
          <a:lstStyle/>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40 images tested (10 per class)</a:t>
            </a: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Zero-shot text prompts</a:t>
            </a:r>
            <a:endParaRPr lang="en-US" sz="1150" dirty="0"/>
          </a:p>
          <a:p>
            <a:pPr marL="0" indent="0">
              <a:lnSpc>
                <a:spcPct val="125000"/>
              </a:lnSpc>
              <a:buNone/>
            </a:pP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Overall Accuracy: 30%</a:t>
            </a: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 Ulcer: 40%</a:t>
            </a: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 Erosion: 70%</a:t>
            </a: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 Blood-fresh: 0%</a:t>
            </a: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 Polyp: 10%</a:t>
            </a:r>
            <a:endParaRPr lang="en-US" sz="1150" dirty="0"/>
          </a:p>
          <a:p>
            <a:pPr marL="0" indent="0">
              <a:lnSpc>
                <a:spcPct val="125000"/>
              </a:lnSpc>
              <a:buNone/>
            </a:pP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Key Failure Mode:</a:t>
            </a: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Strong majority-class bias — predicted 'Erosion' for nearly all inputs regardless of content.</a:t>
            </a:r>
            <a:endParaRPr lang="en-US" sz="1150" dirty="0"/>
          </a:p>
        </p:txBody>
      </p:sp>
      <p:sp>
        <p:nvSpPr>
          <p:cNvPr id="10" name="Shape 6"/>
          <p:cNvSpPr/>
          <p:nvPr/>
        </p:nvSpPr>
        <p:spPr>
          <a:xfrm>
            <a:off x="3200400" y="1005840"/>
            <a:ext cx="2743200" cy="38404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IN"/>
          </a:p>
        </p:txBody>
      </p:sp>
      <p:sp>
        <p:nvSpPr>
          <p:cNvPr id="11" name="Shape 7"/>
          <p:cNvSpPr/>
          <p:nvPr/>
        </p:nvSpPr>
        <p:spPr>
          <a:xfrm>
            <a:off x="3200400" y="1005840"/>
            <a:ext cx="2743200" cy="384048"/>
          </a:xfrm>
          <a:prstGeom prst="rect">
            <a:avLst/>
          </a:prstGeom>
          <a:solidFill>
            <a:srgbClr val="7C3AED"/>
          </a:solidFill>
          <a:ln w="12700">
            <a:solidFill>
              <a:srgbClr val="7C3AED"/>
            </a:solidFill>
            <a:prstDash val="solid"/>
          </a:ln>
        </p:spPr>
        <p:txBody>
          <a:bodyPr/>
          <a:lstStyle/>
          <a:p>
            <a:endParaRPr lang="en-IN"/>
          </a:p>
        </p:txBody>
      </p:sp>
      <p:sp>
        <p:nvSpPr>
          <p:cNvPr id="12" name="Text 8"/>
          <p:cNvSpPr/>
          <p:nvPr/>
        </p:nvSpPr>
        <p:spPr>
          <a:xfrm>
            <a:off x="3246120" y="1005840"/>
            <a:ext cx="2651760" cy="38404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BLIP-2  (Salesforce/blip-vqa-base)</a:t>
            </a:r>
            <a:endParaRPr lang="en-US" sz="1200" dirty="0"/>
          </a:p>
        </p:txBody>
      </p:sp>
      <p:sp>
        <p:nvSpPr>
          <p:cNvPr id="13" name="Text 9"/>
          <p:cNvSpPr/>
          <p:nvPr/>
        </p:nvSpPr>
        <p:spPr>
          <a:xfrm>
            <a:off x="3273552" y="1463040"/>
            <a:ext cx="2606040" cy="3246120"/>
          </a:xfrm>
          <a:prstGeom prst="rect">
            <a:avLst/>
          </a:prstGeom>
          <a:noFill/>
          <a:ln/>
        </p:spPr>
        <p:txBody>
          <a:bodyPr wrap="square" rtlCol="0" anchor="ctr"/>
          <a:lstStyle/>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Visual Question Answering mode</a:t>
            </a: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Zero-shot prompting on 40 images</a:t>
            </a:r>
            <a:endParaRPr lang="en-US" sz="1150" dirty="0"/>
          </a:p>
          <a:p>
            <a:pPr marL="0" indent="0">
              <a:lnSpc>
                <a:spcPct val="125000"/>
              </a:lnSpc>
              <a:buNone/>
            </a:pP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Performance: Effectively 0%</a:t>
            </a:r>
            <a:endParaRPr lang="en-US" sz="1150" dirty="0"/>
          </a:p>
          <a:p>
            <a:pPr marL="0" indent="0">
              <a:lnSpc>
                <a:spcPct val="125000"/>
              </a:lnSpc>
              <a:buNone/>
            </a:pP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Key Failure Mode:</a:t>
            </a: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Generated hallucinated answers entirely unrelated to medical findings. Mapped capsule endoscopy frames to everyday objects.</a:t>
            </a:r>
            <a:endParaRPr lang="en-US" sz="1150" dirty="0"/>
          </a:p>
          <a:p>
            <a:pPr marL="0" indent="0">
              <a:lnSpc>
                <a:spcPct val="125000"/>
              </a:lnSpc>
              <a:buNone/>
            </a:pP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Conclusion:</a:t>
            </a:r>
            <a:endParaRPr lang="en-US" sz="1150" dirty="0"/>
          </a:p>
          <a:p>
            <a:pPr marL="0" indent="0">
              <a:lnSpc>
                <a:spcPct val="125000"/>
              </a:lnSpc>
              <a:buNone/>
            </a:pPr>
            <a:r>
              <a:rPr lang="en-US" sz="1150" dirty="0">
                <a:solidFill>
                  <a:srgbClr val="475569"/>
                </a:solidFill>
                <a:latin typeface="Calibri" pitchFamily="34" charset="0"/>
                <a:ea typeface="Calibri" pitchFamily="34" charset="-122"/>
                <a:cs typeface="Calibri" pitchFamily="34" charset="-120"/>
              </a:rPr>
              <a:t>Model completely failed to generalise to the medical imaging domain.</a:t>
            </a:r>
            <a:endParaRPr lang="en-US" sz="1150" dirty="0"/>
          </a:p>
        </p:txBody>
      </p:sp>
      <p:sp>
        <p:nvSpPr>
          <p:cNvPr id="14" name="Shape 10"/>
          <p:cNvSpPr/>
          <p:nvPr/>
        </p:nvSpPr>
        <p:spPr>
          <a:xfrm>
            <a:off x="6126480" y="1005840"/>
            <a:ext cx="2743200" cy="38404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IN"/>
          </a:p>
        </p:txBody>
      </p:sp>
      <p:sp>
        <p:nvSpPr>
          <p:cNvPr id="15" name="Shape 11"/>
          <p:cNvSpPr/>
          <p:nvPr/>
        </p:nvSpPr>
        <p:spPr>
          <a:xfrm>
            <a:off x="6126480" y="1005840"/>
            <a:ext cx="2743200" cy="384048"/>
          </a:xfrm>
          <a:prstGeom prst="rect">
            <a:avLst/>
          </a:prstGeom>
          <a:solidFill>
            <a:srgbClr val="F59E0B"/>
          </a:solidFill>
          <a:ln w="12700">
            <a:solidFill>
              <a:srgbClr val="F59E0B"/>
            </a:solidFill>
            <a:prstDash val="solid"/>
          </a:ln>
        </p:spPr>
        <p:txBody>
          <a:bodyPr/>
          <a:lstStyle/>
          <a:p>
            <a:endParaRPr lang="en-IN"/>
          </a:p>
        </p:txBody>
      </p:sp>
      <p:sp>
        <p:nvSpPr>
          <p:cNvPr id="16" name="Text 12"/>
          <p:cNvSpPr/>
          <p:nvPr/>
        </p:nvSpPr>
        <p:spPr>
          <a:xfrm>
            <a:off x="6172200" y="1005840"/>
            <a:ext cx="2651760" cy="38404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LLaVA 1.5 7B</a:t>
            </a:r>
            <a:endParaRPr lang="en-US" sz="1200" dirty="0"/>
          </a:p>
        </p:txBody>
      </p:sp>
      <p:sp>
        <p:nvSpPr>
          <p:cNvPr id="17" name="Text 13"/>
          <p:cNvSpPr/>
          <p:nvPr/>
        </p:nvSpPr>
        <p:spPr>
          <a:xfrm>
            <a:off x="6217920" y="1463040"/>
            <a:ext cx="2651760" cy="3383280"/>
          </a:xfrm>
          <a:prstGeom prst="rect">
            <a:avLst/>
          </a:prstGeom>
          <a:noFill/>
          <a:ln/>
        </p:spPr>
        <p:txBody>
          <a:bodyPr wrap="square" rtlCol="0" anchor="ctr"/>
          <a:lstStyle/>
          <a:p>
            <a:pPr marL="0" indent="0">
              <a:lnSpc>
                <a:spcPct val="125000"/>
              </a:lnSpc>
              <a:buNone/>
            </a:pPr>
            <a:r>
              <a:rPr lang="en-US" sz="1100" dirty="0">
                <a:solidFill>
                  <a:srgbClr val="475569"/>
                </a:solidFill>
                <a:latin typeface="Calibri" pitchFamily="34" charset="0"/>
                <a:ea typeface="Calibri" pitchFamily="34" charset="-122"/>
                <a:cs typeface="Calibri" pitchFamily="34" charset="-120"/>
              </a:rPr>
              <a:t>Multimodal LLM — Colab (8-bit)</a:t>
            </a:r>
            <a:endParaRPr lang="en-US" sz="1100" dirty="0"/>
          </a:p>
          <a:p>
            <a:pPr marL="0" indent="0">
              <a:lnSpc>
                <a:spcPct val="125000"/>
              </a:lnSpc>
              <a:buNone/>
            </a:pPr>
            <a:r>
              <a:rPr lang="en-US" sz="1100" dirty="0">
                <a:solidFill>
                  <a:srgbClr val="475569"/>
                </a:solidFill>
                <a:latin typeface="Calibri" pitchFamily="34" charset="0"/>
                <a:ea typeface="Calibri" pitchFamily="34" charset="-122"/>
                <a:cs typeface="Calibri" pitchFamily="34" charset="-120"/>
              </a:rPr>
              <a:t>Hardware Constraint:</a:t>
            </a:r>
            <a:endParaRPr lang="en-US" sz="1100" dirty="0"/>
          </a:p>
          <a:p>
            <a:pPr marL="0" indent="0">
              <a:lnSpc>
                <a:spcPct val="125000"/>
              </a:lnSpc>
              <a:buNone/>
            </a:pPr>
            <a:r>
              <a:rPr lang="en-US" sz="1100" dirty="0">
                <a:solidFill>
                  <a:srgbClr val="475569"/>
                </a:solidFill>
                <a:latin typeface="Calibri" pitchFamily="34" charset="0"/>
                <a:ea typeface="Calibri" pitchFamily="34" charset="-122"/>
                <a:cs typeface="Calibri" pitchFamily="34" charset="-120"/>
              </a:rPr>
              <a:t>15.7 GB RAM, no local GPU</a:t>
            </a:r>
            <a:endParaRPr lang="en-US" sz="1100" dirty="0"/>
          </a:p>
          <a:p>
            <a:pPr marL="0" indent="0">
              <a:lnSpc>
                <a:spcPct val="125000"/>
              </a:lnSpc>
              <a:buNone/>
            </a:pPr>
            <a:r>
              <a:rPr lang="en-US" sz="1100" dirty="0">
                <a:solidFill>
                  <a:srgbClr val="475569"/>
                </a:solidFill>
                <a:latin typeface="Calibri" pitchFamily="34" charset="0"/>
                <a:ea typeface="Calibri" pitchFamily="34" charset="-122"/>
                <a:cs typeface="Calibri" pitchFamily="34" charset="-120"/>
              </a:rPr>
              <a:t>→ Run on Google Colab with 8-bit quantization only</a:t>
            </a:r>
            <a:endParaRPr lang="en-US" sz="1100" dirty="0"/>
          </a:p>
          <a:p>
            <a:pPr marL="0" indent="0">
              <a:lnSpc>
                <a:spcPct val="125000"/>
              </a:lnSpc>
              <a:buNone/>
            </a:pPr>
            <a:r>
              <a:rPr lang="en-US" sz="1100" dirty="0">
                <a:solidFill>
                  <a:srgbClr val="475569"/>
                </a:solidFill>
                <a:latin typeface="Calibri" pitchFamily="34" charset="0"/>
                <a:ea typeface="Calibri" pitchFamily="34" charset="-122"/>
                <a:cs typeface="Calibri" pitchFamily="34" charset="-120"/>
              </a:rPr>
              <a:t>Status: Could not be fully benchmarked locally</a:t>
            </a:r>
          </a:p>
          <a:p>
            <a:pPr>
              <a:lnSpc>
                <a:spcPct val="125000"/>
              </a:lnSpc>
            </a:pPr>
            <a:r>
              <a:rPr lang="en-US" sz="1100" dirty="0">
                <a:solidFill>
                  <a:srgbClr val="475569"/>
                </a:solidFill>
                <a:latin typeface="Calibri" pitchFamily="34" charset="0"/>
                <a:ea typeface="Calibri" pitchFamily="34" charset="-122"/>
                <a:cs typeface="Calibri" pitchFamily="34" charset="-120"/>
              </a:rPr>
              <a:t>Setup:- 40 sampled images, zero-shot VQA prompts. </a:t>
            </a:r>
          </a:p>
          <a:p>
            <a:pPr>
              <a:lnSpc>
                <a:spcPct val="125000"/>
              </a:lnSpc>
            </a:pPr>
            <a:endParaRPr lang="en-US" sz="1100" dirty="0"/>
          </a:p>
          <a:p>
            <a:pPr>
              <a:lnSpc>
                <a:spcPct val="125000"/>
              </a:lnSpc>
            </a:pPr>
            <a:r>
              <a:rPr lang="en-US" sz="1100" dirty="0">
                <a:solidFill>
                  <a:srgbClr val="475569"/>
                </a:solidFill>
                <a:latin typeface="Calibri" pitchFamily="34" charset="0"/>
                <a:ea typeface="Calibri" pitchFamily="34" charset="-122"/>
                <a:cs typeface="Calibri" pitchFamily="34" charset="-120"/>
              </a:rPr>
              <a:t>Preliminary findings:</a:t>
            </a:r>
            <a:br>
              <a:rPr lang="en-US" sz="1100" dirty="0">
                <a:solidFill>
                  <a:srgbClr val="475569"/>
                </a:solidFill>
                <a:latin typeface="Calibri" pitchFamily="34" charset="0"/>
                <a:ea typeface="Calibri" pitchFamily="34" charset="-122"/>
                <a:cs typeface="Calibri" pitchFamily="34" charset="-120"/>
              </a:rPr>
            </a:br>
            <a:r>
              <a:rPr lang="en-IN" sz="1100" dirty="0">
                <a:solidFill>
                  <a:schemeClr val="accent3">
                    <a:lumMod val="50000"/>
                  </a:schemeClr>
                </a:solidFill>
              </a:rPr>
              <a:t>Better semantic understanding than CLIP/BLIP‑2 (e.g., correctly described “red lesion” for blood, “irregular surface” for ulcer). Still made classification errors (e.g., confusing erosion with ulcer).</a:t>
            </a:r>
            <a:endParaRPr lang="en-US" sz="1100" dirty="0">
              <a:solidFill>
                <a:schemeClr val="accent3">
                  <a:lumMod val="50000"/>
                </a:schemeClr>
              </a:solidFill>
            </a:endParaRPr>
          </a:p>
        </p:txBody>
      </p:sp>
      <p:sp>
        <p:nvSpPr>
          <p:cNvPr id="18" name="TextBox 17">
            <a:extLst>
              <a:ext uri="{FF2B5EF4-FFF2-40B4-BE49-F238E27FC236}">
                <a16:creationId xmlns:a16="http://schemas.microsoft.com/office/drawing/2014/main" id="{D9FE680D-E376-93A4-71F8-458722AAD00B}"/>
              </a:ext>
            </a:extLst>
          </p:cNvPr>
          <p:cNvSpPr txBox="1"/>
          <p:nvPr/>
        </p:nvSpPr>
        <p:spPr>
          <a:xfrm>
            <a:off x="4038964" y="14776"/>
            <a:ext cx="4579256" cy="307777"/>
          </a:xfrm>
          <a:prstGeom prst="rect">
            <a:avLst/>
          </a:prstGeom>
          <a:noFill/>
        </p:spPr>
        <p:txBody>
          <a:bodyPr wrap="square">
            <a:spAutoFit/>
          </a:bodyPr>
          <a:lstStyle/>
          <a:p>
            <a:r>
              <a:rPr lang="en-US" sz="1400" dirty="0">
                <a:solidFill>
                  <a:schemeClr val="bg1"/>
                </a:solidFill>
              </a:rPr>
              <a:t>Page 7</a:t>
            </a:r>
            <a:endParaRPr lang="en-IN" sz="14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545"/>
          </a:solidFill>
          <a:ln w="12700">
            <a:solidFill>
              <a:srgbClr val="0D2545"/>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164592" y="91440"/>
            <a:ext cx="777240" cy="777240"/>
          </a:xfrm>
          <a:prstGeom prst="rect">
            <a:avLst/>
          </a:prstGeom>
        </p:spPr>
      </p:pic>
      <p:pic>
        <p:nvPicPr>
          <p:cNvPr id="4" name="Image 1" descr="preencoded.png"/>
          <p:cNvPicPr>
            <a:picLocks noChangeAspect="1"/>
          </p:cNvPicPr>
          <p:nvPr/>
        </p:nvPicPr>
        <p:blipFill>
          <a:blip r:embed="rId4"/>
          <a:stretch>
            <a:fillRect/>
          </a:stretch>
        </p:blipFill>
        <p:spPr>
          <a:xfrm>
            <a:off x="8229600" y="91440"/>
            <a:ext cx="777240" cy="777240"/>
          </a:xfrm>
          <a:prstGeom prst="rect">
            <a:avLst/>
          </a:prstGeom>
        </p:spPr>
      </p:pic>
      <p:sp>
        <p:nvSpPr>
          <p:cNvPr id="5" name="Text 1"/>
          <p:cNvSpPr/>
          <p:nvPr/>
        </p:nvSpPr>
        <p:spPr>
          <a:xfrm>
            <a:off x="1097280" y="137160"/>
            <a:ext cx="6949440" cy="640080"/>
          </a:xfrm>
          <a:prstGeom prst="rect">
            <a:avLst/>
          </a:prstGeom>
          <a:noFill/>
          <a:ln/>
        </p:spPr>
        <p:txBody>
          <a:bodyPr wrap="square"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MedSAM Benchmark Results  (IoU threshold = 0.5)</a:t>
            </a:r>
            <a:endParaRPr lang="en-US" sz="2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7863840" cy="2432304"/>
        </p:xfrm>
        <a:graphic>
          <a:graphicData uri="http://schemas.openxmlformats.org/drawingml/2006/table">
            <a:tbl>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34747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 Score</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TP</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FP</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FN</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2545"/>
                    </a:solidFill>
                  </a:tcPr>
                </a:tc>
                <a:extLst>
                  <a:ext uri="{0D108BD9-81ED-4DB2-BD59-A6C34878D82A}">
                    <a16:rowId xmlns:a16="http://schemas.microsoft.com/office/drawing/2014/main" val="10000"/>
                  </a:ext>
                </a:extLst>
              </a:tr>
              <a:tr h="34747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Ulcer</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0.8889</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0.0843</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0.1540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782</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Erosion</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0.8800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0.2170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0.3481</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110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397</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Blood-fresh</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0.0000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0.0000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0.0000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446</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Polyp</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1.0000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0.0714</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0.1333</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52</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lgn="ctr">
                        <a:buNone/>
                      </a:pPr>
                      <a:r>
                        <a:rPr lang="en-US" sz="1200" b="1" dirty="0">
                          <a:solidFill>
                            <a:srgbClr val="0D2545"/>
                          </a:solidFill>
                          <a:latin typeface="Calibri" pitchFamily="34" charset="0"/>
                          <a:ea typeface="Calibri" pitchFamily="34" charset="-122"/>
                          <a:cs typeface="Calibri" pitchFamily="34" charset="-120"/>
                        </a:rPr>
                        <a:t>Macro Avg</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0D2545"/>
                          </a:solidFill>
                          <a:latin typeface="Calibri" pitchFamily="34" charset="0"/>
                          <a:ea typeface="Calibri" pitchFamily="34" charset="-122"/>
                          <a:cs typeface="Calibri" pitchFamily="34" charset="-120"/>
                        </a:rPr>
                        <a:t>0.6922</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DC2626"/>
                          </a:solidFill>
                          <a:latin typeface="Calibri" pitchFamily="34" charset="0"/>
                          <a:ea typeface="Calibri" pitchFamily="34" charset="-122"/>
                          <a:cs typeface="Calibri" pitchFamily="34" charset="-120"/>
                        </a:rPr>
                        <a:t>0.0932</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0D2545"/>
                          </a:solidFill>
                          <a:latin typeface="Calibri" pitchFamily="34" charset="0"/>
                          <a:ea typeface="Calibri" pitchFamily="34" charset="-122"/>
                          <a:cs typeface="Calibri" pitchFamily="34" charset="-120"/>
                        </a:rPr>
                        <a:t>0.1589</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r h="347472">
                <a:tc>
                  <a:txBody>
                    <a:bodyPr/>
                    <a:lstStyle/>
                    <a:p>
                      <a:pPr marL="0" indent="0" algn="ctr">
                        <a:buNone/>
                      </a:pPr>
                      <a:r>
                        <a:rPr lang="en-US" sz="1200" b="1" dirty="0">
                          <a:solidFill>
                            <a:srgbClr val="0D2545"/>
                          </a:solidFill>
                          <a:latin typeface="Calibri" pitchFamily="34" charset="0"/>
                          <a:ea typeface="Calibri" pitchFamily="34" charset="-122"/>
                          <a:cs typeface="Calibri" pitchFamily="34" charset="-120"/>
                        </a:rPr>
                        <a:t>Micro Avg</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059669"/>
                          </a:solidFill>
                          <a:latin typeface="Calibri" pitchFamily="34" charset="0"/>
                          <a:ea typeface="Calibri" pitchFamily="34" charset="-122"/>
                          <a:cs typeface="Calibri" pitchFamily="34" charset="-120"/>
                        </a:rPr>
                        <a:t>0.8857</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DC2626"/>
                          </a:solidFill>
                          <a:latin typeface="Calibri" pitchFamily="34" charset="0"/>
                          <a:ea typeface="Calibri" pitchFamily="34" charset="-122"/>
                          <a:cs typeface="Calibri" pitchFamily="34" charset="-120"/>
                        </a:rPr>
                        <a:t>0.0998</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b="1" dirty="0">
                          <a:solidFill>
                            <a:srgbClr val="0D2545"/>
                          </a:solidFill>
                          <a:latin typeface="Calibri" pitchFamily="34" charset="0"/>
                          <a:ea typeface="Calibri" pitchFamily="34" charset="-122"/>
                          <a:cs typeface="Calibri" pitchFamily="34" charset="-120"/>
                        </a:rPr>
                        <a:t>0.1795</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6"/>
                  </a:ext>
                </a:extLst>
              </a:tr>
            </a:tbl>
          </a:graphicData>
        </a:graphic>
      </p:graphicFrame>
      <p:sp>
        <p:nvSpPr>
          <p:cNvPr id="7" name="Shape 2"/>
          <p:cNvSpPr/>
          <p:nvPr/>
        </p:nvSpPr>
        <p:spPr>
          <a:xfrm>
            <a:off x="274320" y="3657600"/>
            <a:ext cx="2011680" cy="1280160"/>
          </a:xfrm>
          <a:prstGeom prst="rect">
            <a:avLst/>
          </a:prstGeom>
          <a:solidFill>
            <a:srgbClr val="0D2545"/>
          </a:solidFill>
          <a:ln w="25400">
            <a:solidFill>
              <a:srgbClr val="0E7490"/>
            </a:solidFill>
            <a:prstDash val="solid"/>
          </a:ln>
        </p:spPr>
        <p:txBody>
          <a:bodyPr/>
          <a:lstStyle/>
          <a:p>
            <a:endParaRPr lang="en-IN"/>
          </a:p>
        </p:txBody>
      </p:sp>
      <p:sp>
        <p:nvSpPr>
          <p:cNvPr id="8" name="Text 3"/>
          <p:cNvSpPr/>
          <p:nvPr/>
        </p:nvSpPr>
        <p:spPr>
          <a:xfrm>
            <a:off x="274320" y="3703320"/>
            <a:ext cx="2011680" cy="502920"/>
          </a:xfrm>
          <a:prstGeom prst="rect">
            <a:avLst/>
          </a:prstGeom>
          <a:noFill/>
          <a:ln/>
        </p:spPr>
        <p:txBody>
          <a:bodyPr wrap="square" lIns="0" tIns="0" rIns="0" bIns="0" rtlCol="0" anchor="ctr"/>
          <a:lstStyle/>
          <a:p>
            <a:pPr marL="0" indent="0" algn="ctr">
              <a:buNone/>
            </a:pPr>
            <a:r>
              <a:rPr lang="en-US" sz="2400" b="1" dirty="0">
                <a:solidFill>
                  <a:srgbClr val="F59E0B"/>
                </a:solidFill>
                <a:latin typeface="Calibri" pitchFamily="34" charset="0"/>
                <a:ea typeface="Calibri" pitchFamily="34" charset="-122"/>
                <a:cs typeface="Calibri" pitchFamily="34" charset="-120"/>
              </a:rPr>
              <a:t>0.5101</a:t>
            </a:r>
            <a:endParaRPr lang="en-US" sz="2400" dirty="0"/>
          </a:p>
        </p:txBody>
      </p:sp>
      <p:sp>
        <p:nvSpPr>
          <p:cNvPr id="6" name="Text 4"/>
          <p:cNvSpPr/>
          <p:nvPr/>
        </p:nvSpPr>
        <p:spPr>
          <a:xfrm>
            <a:off x="274320" y="4206240"/>
            <a:ext cx="2011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Mean IoU</a:t>
            </a:r>
            <a:endParaRPr lang="en-US" sz="1100" dirty="0"/>
          </a:p>
        </p:txBody>
      </p:sp>
      <p:sp>
        <p:nvSpPr>
          <p:cNvPr id="10" name="Text 5"/>
          <p:cNvSpPr/>
          <p:nvPr/>
        </p:nvSpPr>
        <p:spPr>
          <a:xfrm>
            <a:off x="274320" y="4480560"/>
            <a:ext cx="2011680" cy="4114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Moderate spatial overlap</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when predictions made</a:t>
            </a:r>
            <a:endParaRPr lang="en-US" sz="900" dirty="0"/>
          </a:p>
        </p:txBody>
      </p:sp>
      <p:sp>
        <p:nvSpPr>
          <p:cNvPr id="11" name="Shape 6"/>
          <p:cNvSpPr/>
          <p:nvPr/>
        </p:nvSpPr>
        <p:spPr>
          <a:xfrm>
            <a:off x="2441448" y="3657600"/>
            <a:ext cx="2011680" cy="1280160"/>
          </a:xfrm>
          <a:prstGeom prst="rect">
            <a:avLst/>
          </a:prstGeom>
          <a:solidFill>
            <a:srgbClr val="0D2545"/>
          </a:solidFill>
          <a:ln w="25400">
            <a:solidFill>
              <a:srgbClr val="0E7490"/>
            </a:solidFill>
            <a:prstDash val="solid"/>
          </a:ln>
        </p:spPr>
        <p:txBody>
          <a:bodyPr/>
          <a:lstStyle/>
          <a:p>
            <a:endParaRPr lang="en-IN"/>
          </a:p>
        </p:txBody>
      </p:sp>
      <p:sp>
        <p:nvSpPr>
          <p:cNvPr id="12" name="Text 7"/>
          <p:cNvSpPr/>
          <p:nvPr/>
        </p:nvSpPr>
        <p:spPr>
          <a:xfrm>
            <a:off x="2441448" y="3703320"/>
            <a:ext cx="2011680" cy="502920"/>
          </a:xfrm>
          <a:prstGeom prst="rect">
            <a:avLst/>
          </a:prstGeom>
          <a:noFill/>
          <a:ln/>
        </p:spPr>
        <p:txBody>
          <a:bodyPr wrap="square" lIns="0" tIns="0" rIns="0" bIns="0" rtlCol="0" anchor="ctr"/>
          <a:lstStyle/>
          <a:p>
            <a:pPr marL="0" indent="0" algn="ctr">
              <a:buNone/>
            </a:pPr>
            <a:r>
              <a:rPr lang="en-US" sz="2400" b="1" dirty="0">
                <a:solidFill>
                  <a:srgbClr val="F59E0B"/>
                </a:solidFill>
                <a:latin typeface="Calibri" pitchFamily="34" charset="0"/>
                <a:ea typeface="Calibri" pitchFamily="34" charset="-122"/>
                <a:cs typeface="Calibri" pitchFamily="34" charset="-120"/>
              </a:rPr>
              <a:t>0.6152</a:t>
            </a:r>
            <a:endParaRPr lang="en-US" sz="2400" dirty="0"/>
          </a:p>
        </p:txBody>
      </p:sp>
      <p:sp>
        <p:nvSpPr>
          <p:cNvPr id="13" name="Text 8"/>
          <p:cNvSpPr/>
          <p:nvPr/>
        </p:nvSpPr>
        <p:spPr>
          <a:xfrm>
            <a:off x="2441448" y="4206240"/>
            <a:ext cx="2011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Mean Dice</a:t>
            </a:r>
            <a:endParaRPr lang="en-US" sz="1100" dirty="0"/>
          </a:p>
        </p:txBody>
      </p:sp>
      <p:sp>
        <p:nvSpPr>
          <p:cNvPr id="14" name="Text 9"/>
          <p:cNvSpPr/>
          <p:nvPr/>
        </p:nvSpPr>
        <p:spPr>
          <a:xfrm>
            <a:off x="2441448" y="4480560"/>
            <a:ext cx="2011680" cy="4114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Reasonable mask quality</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in prompted segments</a:t>
            </a:r>
            <a:endParaRPr lang="en-US" sz="900" dirty="0"/>
          </a:p>
        </p:txBody>
      </p:sp>
      <p:sp>
        <p:nvSpPr>
          <p:cNvPr id="15" name="Shape 10"/>
          <p:cNvSpPr/>
          <p:nvPr/>
        </p:nvSpPr>
        <p:spPr>
          <a:xfrm>
            <a:off x="4608576" y="3657600"/>
            <a:ext cx="2011680" cy="1280160"/>
          </a:xfrm>
          <a:prstGeom prst="rect">
            <a:avLst/>
          </a:prstGeom>
          <a:solidFill>
            <a:srgbClr val="0D2545"/>
          </a:solidFill>
          <a:ln w="25400">
            <a:solidFill>
              <a:srgbClr val="059669"/>
            </a:solidFill>
            <a:prstDash val="solid"/>
          </a:ln>
        </p:spPr>
        <p:txBody>
          <a:bodyPr/>
          <a:lstStyle/>
          <a:p>
            <a:endParaRPr lang="en-IN"/>
          </a:p>
        </p:txBody>
      </p:sp>
      <p:sp>
        <p:nvSpPr>
          <p:cNvPr id="16" name="Text 11"/>
          <p:cNvSpPr/>
          <p:nvPr/>
        </p:nvSpPr>
        <p:spPr>
          <a:xfrm>
            <a:off x="4608576" y="3703320"/>
            <a:ext cx="2011680" cy="502920"/>
          </a:xfrm>
          <a:prstGeom prst="rect">
            <a:avLst/>
          </a:prstGeom>
          <a:noFill/>
          <a:ln/>
        </p:spPr>
        <p:txBody>
          <a:bodyPr wrap="square" lIns="0" tIns="0" rIns="0" bIns="0" rtlCol="0" anchor="ctr"/>
          <a:lstStyle/>
          <a:p>
            <a:pPr marL="0" indent="0" algn="ctr">
              <a:buNone/>
            </a:pPr>
            <a:r>
              <a:rPr lang="en-US" sz="2400" b="1" dirty="0">
                <a:solidFill>
                  <a:srgbClr val="F59E0B"/>
                </a:solidFill>
                <a:latin typeface="Calibri" pitchFamily="34" charset="0"/>
                <a:ea typeface="Calibri" pitchFamily="34" charset="-122"/>
                <a:cs typeface="Calibri" pitchFamily="34" charset="-120"/>
              </a:rPr>
              <a:t>0.8857</a:t>
            </a:r>
            <a:endParaRPr lang="en-US" sz="2400" dirty="0"/>
          </a:p>
        </p:txBody>
      </p:sp>
      <p:sp>
        <p:nvSpPr>
          <p:cNvPr id="17" name="Text 12"/>
          <p:cNvSpPr/>
          <p:nvPr/>
        </p:nvSpPr>
        <p:spPr>
          <a:xfrm>
            <a:off x="4608576" y="4206240"/>
            <a:ext cx="2011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Micro Precision</a:t>
            </a:r>
            <a:endParaRPr lang="en-US" sz="1100" dirty="0"/>
          </a:p>
        </p:txBody>
      </p:sp>
      <p:sp>
        <p:nvSpPr>
          <p:cNvPr id="18" name="Text 13"/>
          <p:cNvSpPr/>
          <p:nvPr/>
        </p:nvSpPr>
        <p:spPr>
          <a:xfrm>
            <a:off x="4608576" y="4480560"/>
            <a:ext cx="2011680" cy="4114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High accuracy when</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model does predict</a:t>
            </a:r>
            <a:endParaRPr lang="en-US" sz="900" dirty="0"/>
          </a:p>
        </p:txBody>
      </p:sp>
      <p:sp>
        <p:nvSpPr>
          <p:cNvPr id="19" name="Shape 14"/>
          <p:cNvSpPr/>
          <p:nvPr/>
        </p:nvSpPr>
        <p:spPr>
          <a:xfrm>
            <a:off x="6775704" y="3657600"/>
            <a:ext cx="2011680" cy="1280160"/>
          </a:xfrm>
          <a:prstGeom prst="rect">
            <a:avLst/>
          </a:prstGeom>
          <a:solidFill>
            <a:srgbClr val="0D2545"/>
          </a:solidFill>
          <a:ln w="25400">
            <a:solidFill>
              <a:srgbClr val="DC2626"/>
            </a:solidFill>
            <a:prstDash val="solid"/>
          </a:ln>
        </p:spPr>
        <p:txBody>
          <a:bodyPr/>
          <a:lstStyle/>
          <a:p>
            <a:endParaRPr lang="en-IN"/>
          </a:p>
        </p:txBody>
      </p:sp>
      <p:sp>
        <p:nvSpPr>
          <p:cNvPr id="20" name="Text 15"/>
          <p:cNvSpPr/>
          <p:nvPr/>
        </p:nvSpPr>
        <p:spPr>
          <a:xfrm>
            <a:off x="6775704" y="3703320"/>
            <a:ext cx="2011680" cy="502920"/>
          </a:xfrm>
          <a:prstGeom prst="rect">
            <a:avLst/>
          </a:prstGeom>
          <a:noFill/>
          <a:ln/>
        </p:spPr>
        <p:txBody>
          <a:bodyPr wrap="square" lIns="0" tIns="0" rIns="0" bIns="0" rtlCol="0" anchor="ctr"/>
          <a:lstStyle/>
          <a:p>
            <a:pPr marL="0" indent="0" algn="ctr">
              <a:buNone/>
            </a:pPr>
            <a:r>
              <a:rPr lang="en-US" sz="2400" b="1" dirty="0">
                <a:solidFill>
                  <a:srgbClr val="DC2626"/>
                </a:solidFill>
                <a:latin typeface="Calibri" pitchFamily="34" charset="0"/>
                <a:ea typeface="Calibri" pitchFamily="34" charset="-122"/>
                <a:cs typeface="Calibri" pitchFamily="34" charset="-120"/>
              </a:rPr>
              <a:t>0.0998</a:t>
            </a:r>
            <a:endParaRPr lang="en-US" sz="2400" dirty="0"/>
          </a:p>
        </p:txBody>
      </p:sp>
      <p:sp>
        <p:nvSpPr>
          <p:cNvPr id="21" name="Text 16"/>
          <p:cNvSpPr/>
          <p:nvPr/>
        </p:nvSpPr>
        <p:spPr>
          <a:xfrm>
            <a:off x="6775704" y="4206240"/>
            <a:ext cx="2011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Micro Recall</a:t>
            </a:r>
            <a:endParaRPr lang="en-US" sz="1100" dirty="0"/>
          </a:p>
        </p:txBody>
      </p:sp>
      <p:sp>
        <p:nvSpPr>
          <p:cNvPr id="22" name="Text 17"/>
          <p:cNvSpPr/>
          <p:nvPr/>
        </p:nvSpPr>
        <p:spPr>
          <a:xfrm>
            <a:off x="6775704" y="4480560"/>
            <a:ext cx="2011680" cy="4114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Misses 90% of all</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annotated findings</a:t>
            </a:r>
            <a:endParaRPr lang="en-US" sz="900" dirty="0"/>
          </a:p>
        </p:txBody>
      </p:sp>
      <p:sp>
        <p:nvSpPr>
          <p:cNvPr id="23" name="TextBox 22">
            <a:extLst>
              <a:ext uri="{FF2B5EF4-FFF2-40B4-BE49-F238E27FC236}">
                <a16:creationId xmlns:a16="http://schemas.microsoft.com/office/drawing/2014/main" id="{48DE371C-1493-A8EF-FC9A-FA3B7329BD25}"/>
              </a:ext>
            </a:extLst>
          </p:cNvPr>
          <p:cNvSpPr txBox="1"/>
          <p:nvPr/>
        </p:nvSpPr>
        <p:spPr>
          <a:xfrm>
            <a:off x="4038964" y="14776"/>
            <a:ext cx="4579256" cy="307777"/>
          </a:xfrm>
          <a:prstGeom prst="rect">
            <a:avLst/>
          </a:prstGeom>
          <a:noFill/>
        </p:spPr>
        <p:txBody>
          <a:bodyPr wrap="square">
            <a:spAutoFit/>
          </a:bodyPr>
          <a:lstStyle/>
          <a:p>
            <a:r>
              <a:rPr lang="en-US" sz="1400" dirty="0">
                <a:solidFill>
                  <a:schemeClr val="bg1"/>
                </a:solidFill>
              </a:rPr>
              <a:t>Page 8</a:t>
            </a:r>
            <a:endParaRPr lang="en-IN" sz="14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545"/>
          </a:solidFill>
          <a:ln w="12700">
            <a:solidFill>
              <a:srgbClr val="0D2545"/>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164592" y="91440"/>
            <a:ext cx="777240" cy="777240"/>
          </a:xfrm>
          <a:prstGeom prst="rect">
            <a:avLst/>
          </a:prstGeom>
        </p:spPr>
      </p:pic>
      <p:pic>
        <p:nvPicPr>
          <p:cNvPr id="4" name="Image 1" descr="preencoded.png"/>
          <p:cNvPicPr>
            <a:picLocks noChangeAspect="1"/>
          </p:cNvPicPr>
          <p:nvPr/>
        </p:nvPicPr>
        <p:blipFill>
          <a:blip r:embed="rId4"/>
          <a:stretch>
            <a:fillRect/>
          </a:stretch>
        </p:blipFill>
        <p:spPr>
          <a:xfrm>
            <a:off x="8229600" y="91440"/>
            <a:ext cx="777240" cy="777240"/>
          </a:xfrm>
          <a:prstGeom prst="rect">
            <a:avLst/>
          </a:prstGeom>
        </p:spPr>
      </p:pic>
      <p:sp>
        <p:nvSpPr>
          <p:cNvPr id="5" name="Text 1"/>
          <p:cNvSpPr/>
          <p:nvPr/>
        </p:nvSpPr>
        <p:spPr>
          <a:xfrm>
            <a:off x="1097280" y="137160"/>
            <a:ext cx="694944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Comparison with Kvasir-Capsule Paper Benchmarks</a:t>
            </a:r>
            <a:endParaRPr lang="en-US" sz="2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066544"/>
        </p:xfrm>
        <a:graphic>
          <a:graphicData uri="http://schemas.openxmlformats.org/drawingml/2006/table">
            <a:tbl>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34747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Micro F1</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Macro F1</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2545"/>
                    </a:solidFill>
                  </a:tcPr>
                </a:tc>
                <a:extLst>
                  <a:ext uri="{0D108BD9-81ED-4DB2-BD59-A6C34878D82A}">
                    <a16:rowId xmlns:a16="http://schemas.microsoft.com/office/drawing/2014/main" val="10000"/>
                  </a:ext>
                </a:extLst>
              </a:tr>
              <a:tr h="347472">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ResNet-152</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Fine-tuned (Paper)</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0.7340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0.2380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Supervised, in-domain fine-tuning</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ctr">
                        <a:buNone/>
                      </a:pPr>
                      <a:r>
                        <a:rPr lang="en-US" sz="1200" b="1" dirty="0">
                          <a:solidFill>
                            <a:srgbClr val="000000"/>
                          </a:solidFill>
                          <a:latin typeface="Calibri" pitchFamily="34" charset="0"/>
                          <a:ea typeface="Calibri" pitchFamily="34" charset="-122"/>
                          <a:cs typeface="Calibri" pitchFamily="34" charset="-120"/>
                        </a:rPr>
                        <a:t>DenseNet-161</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Fine-tuned (Paper)</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0.7350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0.2460</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Supervised, in-domain fine-tuning</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lgn="ctr">
                        <a:buNone/>
                      </a:pPr>
                      <a:r>
                        <a:rPr lang="en-US" sz="1200" b="1" dirty="0">
                          <a:solidFill>
                            <a:srgbClr val="0E7490"/>
                          </a:solidFill>
                          <a:latin typeface="Calibri" pitchFamily="34" charset="0"/>
                          <a:ea typeface="Calibri" pitchFamily="34" charset="-122"/>
                          <a:cs typeface="Calibri" pitchFamily="34" charset="-120"/>
                        </a:rPr>
                        <a:t>MedSAM (ours)</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Zero-shot</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DC2626"/>
                          </a:solidFill>
                          <a:latin typeface="Calibri" pitchFamily="34" charset="0"/>
                          <a:ea typeface="Calibri" pitchFamily="34" charset="-122"/>
                          <a:cs typeface="Calibri" pitchFamily="34" charset="-120"/>
                        </a:rPr>
                        <a:t>0.1795</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DC2626"/>
                          </a:solidFill>
                          <a:latin typeface="Calibri" pitchFamily="34" charset="0"/>
                          <a:ea typeface="Calibri" pitchFamily="34" charset="-122"/>
                          <a:cs typeface="Calibri" pitchFamily="34" charset="-120"/>
                        </a:rPr>
                        <a:t>0.1589</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Pretrained, no capsule endo fine-tuning</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ctr">
                        <a:buNone/>
                      </a:pPr>
                      <a:r>
                        <a:rPr lang="en-US" sz="1200" i="1" dirty="0">
                          <a:solidFill>
                            <a:srgbClr val="94A3B8"/>
                          </a:solidFill>
                          <a:latin typeface="Calibri" pitchFamily="34" charset="0"/>
                          <a:ea typeface="Calibri" pitchFamily="34" charset="-122"/>
                          <a:cs typeface="Calibri" pitchFamily="34" charset="-120"/>
                        </a:rPr>
                        <a:t>Random Baseline</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64748B"/>
                          </a:solidFill>
                          <a:latin typeface="Calibri" pitchFamily="34" charset="0"/>
                          <a:ea typeface="Calibri" pitchFamily="34" charset="-122"/>
                          <a:cs typeface="Calibri" pitchFamily="34" charset="-120"/>
                        </a:rPr>
                        <a:t>0.3412</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Validates pipeline correctness</a:t>
                      </a:r>
                      <a:endParaRPr lang="en-US" sz="1200" dirty="0">
                        <a:latin typeface="Calibri" charset="0"/>
                        <a:ea typeface="Calibri" charset="0"/>
                        <a:cs typeface="Calibri" charset="0"/>
                      </a:endParaRPr>
                    </a:p>
                  </a:txBody>
                  <a:tcPr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2"/>
          <p:cNvSpPr/>
          <p:nvPr/>
        </p:nvSpPr>
        <p:spPr>
          <a:xfrm>
            <a:off x="274320" y="3063240"/>
            <a:ext cx="8595360" cy="347472"/>
          </a:xfrm>
          <a:prstGeom prst="rect">
            <a:avLst/>
          </a:prstGeom>
          <a:solidFill>
            <a:srgbClr val="0D2545"/>
          </a:solidFill>
          <a:ln w="12700">
            <a:solidFill>
              <a:srgbClr val="0D2545"/>
            </a:solidFill>
            <a:prstDash val="solid"/>
          </a:ln>
        </p:spPr>
        <p:txBody>
          <a:bodyPr/>
          <a:lstStyle/>
          <a:p>
            <a:endParaRPr lang="en-IN"/>
          </a:p>
        </p:txBody>
      </p:sp>
      <p:sp>
        <p:nvSpPr>
          <p:cNvPr id="8" name="Text 3"/>
          <p:cNvSpPr/>
          <p:nvPr/>
        </p:nvSpPr>
        <p:spPr>
          <a:xfrm>
            <a:off x="274320" y="3063240"/>
            <a:ext cx="85953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Key Insights</a:t>
            </a:r>
            <a:endParaRPr lang="en-US" sz="1300" dirty="0"/>
          </a:p>
        </p:txBody>
      </p:sp>
      <p:sp>
        <p:nvSpPr>
          <p:cNvPr id="9" name="Text 4"/>
          <p:cNvSpPr/>
          <p:nvPr/>
        </p:nvSpPr>
        <p:spPr>
          <a:xfrm>
            <a:off x="320040" y="3502152"/>
            <a:ext cx="274320" cy="329184"/>
          </a:xfrm>
          <a:prstGeom prst="rect">
            <a:avLst/>
          </a:prstGeom>
          <a:noFill/>
          <a:ln/>
        </p:spPr>
        <p:txBody>
          <a:bodyPr wrap="square" lIns="0" tIns="0" rIns="0" bIns="0" rtlCol="0" anchor="ctr"/>
          <a:lstStyle/>
          <a:p>
            <a:pPr marL="0" indent="0">
              <a:buNone/>
            </a:pPr>
            <a:r>
              <a:rPr lang="en-US" sz="1300" b="1" dirty="0">
                <a:solidFill>
                  <a:srgbClr val="059669"/>
                </a:solidFill>
              </a:rPr>
              <a:t>▲</a:t>
            </a:r>
            <a:endParaRPr lang="en-US" sz="1300" dirty="0"/>
          </a:p>
        </p:txBody>
      </p:sp>
      <p:sp>
        <p:nvSpPr>
          <p:cNvPr id="6" name="Text 5"/>
          <p:cNvSpPr/>
          <p:nvPr/>
        </p:nvSpPr>
        <p:spPr>
          <a:xfrm>
            <a:off x="640080" y="3502152"/>
            <a:ext cx="8229600" cy="329184"/>
          </a:xfrm>
          <a:prstGeom prst="rect">
            <a:avLst/>
          </a:prstGeom>
          <a:noFill/>
          <a:ln/>
        </p:spPr>
        <p:txBody>
          <a:bodyPr wrap="square" rtlCol="0" anchor="ctr"/>
          <a:lstStyle/>
          <a:p>
            <a:pPr marL="0" indent="0">
              <a:lnSpc>
                <a:spcPct val="110000"/>
              </a:lnSpc>
              <a:buNone/>
            </a:pPr>
            <a:r>
              <a:rPr lang="en-US" sz="1100" dirty="0">
                <a:solidFill>
                  <a:srgbClr val="475569"/>
                </a:solidFill>
                <a:latin typeface="Calibri" pitchFamily="34" charset="0"/>
                <a:ea typeface="Calibri" pitchFamily="34" charset="-122"/>
                <a:cs typeface="Calibri" pitchFamily="34" charset="-120"/>
              </a:rPr>
              <a:t>MedSAM achieves strong spatial quality when it predicts: Mean IoU 0.5101, Mean Dice 0.6152 — showing effective prompting capability.</a:t>
            </a:r>
            <a:endParaRPr lang="en-US" sz="1100" dirty="0"/>
          </a:p>
        </p:txBody>
      </p:sp>
      <p:sp>
        <p:nvSpPr>
          <p:cNvPr id="11" name="Text 6"/>
          <p:cNvSpPr/>
          <p:nvPr/>
        </p:nvSpPr>
        <p:spPr>
          <a:xfrm>
            <a:off x="320040" y="3877056"/>
            <a:ext cx="274320" cy="329184"/>
          </a:xfrm>
          <a:prstGeom prst="rect">
            <a:avLst/>
          </a:prstGeom>
          <a:noFill/>
          <a:ln/>
        </p:spPr>
        <p:txBody>
          <a:bodyPr wrap="square" lIns="0" tIns="0" rIns="0" bIns="0" rtlCol="0" anchor="ctr"/>
          <a:lstStyle/>
          <a:p>
            <a:pPr marL="0" indent="0">
              <a:buNone/>
            </a:pPr>
            <a:r>
              <a:rPr lang="en-US" sz="1300" b="1" dirty="0">
                <a:solidFill>
                  <a:srgbClr val="DC2626"/>
                </a:solidFill>
              </a:rPr>
              <a:t>▼</a:t>
            </a:r>
            <a:endParaRPr lang="en-US" sz="1300" dirty="0"/>
          </a:p>
        </p:txBody>
      </p:sp>
      <p:sp>
        <p:nvSpPr>
          <p:cNvPr id="12" name="Text 7"/>
          <p:cNvSpPr/>
          <p:nvPr/>
        </p:nvSpPr>
        <p:spPr>
          <a:xfrm>
            <a:off x="640080" y="3877056"/>
            <a:ext cx="8229600" cy="329184"/>
          </a:xfrm>
          <a:prstGeom prst="rect">
            <a:avLst/>
          </a:prstGeom>
          <a:noFill/>
          <a:ln/>
        </p:spPr>
        <p:txBody>
          <a:bodyPr wrap="square" rtlCol="0" anchor="ctr"/>
          <a:lstStyle/>
          <a:p>
            <a:pPr marL="0" indent="0">
              <a:lnSpc>
                <a:spcPct val="110000"/>
              </a:lnSpc>
              <a:buNone/>
            </a:pPr>
            <a:r>
              <a:rPr lang="en-US" sz="1100" dirty="0">
                <a:solidFill>
                  <a:srgbClr val="475569"/>
                </a:solidFill>
                <a:latin typeface="Calibri" pitchFamily="34" charset="0"/>
                <a:ea typeface="Calibri" pitchFamily="34" charset="-122"/>
                <a:cs typeface="Calibri" pitchFamily="34" charset="-120"/>
              </a:rPr>
              <a:t>Recall of 0.0998 means MedSAM misses ~90% of annotated findings in zero-shot mode — far below fine-tuned ResNet/DenseNet.</a:t>
            </a:r>
            <a:endParaRPr lang="en-US" sz="1100" dirty="0"/>
          </a:p>
        </p:txBody>
      </p:sp>
      <p:sp>
        <p:nvSpPr>
          <p:cNvPr id="13" name="Text 8"/>
          <p:cNvSpPr/>
          <p:nvPr/>
        </p:nvSpPr>
        <p:spPr>
          <a:xfrm>
            <a:off x="320040" y="4251960"/>
            <a:ext cx="274320" cy="329184"/>
          </a:xfrm>
          <a:prstGeom prst="rect">
            <a:avLst/>
          </a:prstGeom>
          <a:noFill/>
          <a:ln/>
        </p:spPr>
        <p:txBody>
          <a:bodyPr wrap="square" lIns="0" tIns="0" rIns="0" bIns="0" rtlCol="0" anchor="ctr"/>
          <a:lstStyle/>
          <a:p>
            <a:pPr marL="0" indent="0">
              <a:buNone/>
            </a:pPr>
            <a:r>
              <a:rPr lang="en-US" sz="1300" b="1" dirty="0">
                <a:solidFill>
                  <a:srgbClr val="F59E0B"/>
                </a:solidFill>
              </a:rPr>
              <a:t>●</a:t>
            </a:r>
            <a:endParaRPr lang="en-US" sz="1300" dirty="0"/>
          </a:p>
        </p:txBody>
      </p:sp>
      <p:sp>
        <p:nvSpPr>
          <p:cNvPr id="14" name="Text 9"/>
          <p:cNvSpPr/>
          <p:nvPr/>
        </p:nvSpPr>
        <p:spPr>
          <a:xfrm>
            <a:off x="640080" y="4251960"/>
            <a:ext cx="8229600" cy="329184"/>
          </a:xfrm>
          <a:prstGeom prst="rect">
            <a:avLst/>
          </a:prstGeom>
          <a:noFill/>
          <a:ln/>
        </p:spPr>
        <p:txBody>
          <a:bodyPr wrap="square" rtlCol="0" anchor="ctr"/>
          <a:lstStyle/>
          <a:p>
            <a:pPr marL="0" indent="0">
              <a:lnSpc>
                <a:spcPct val="110000"/>
              </a:lnSpc>
              <a:buNone/>
            </a:pPr>
            <a:r>
              <a:rPr lang="en-US" sz="1100" dirty="0">
                <a:solidFill>
                  <a:srgbClr val="475569"/>
                </a:solidFill>
                <a:latin typeface="Calibri" pitchFamily="34" charset="0"/>
                <a:ea typeface="Calibri" pitchFamily="34" charset="-122"/>
                <a:cs typeface="Calibri" pitchFamily="34" charset="-120"/>
              </a:rPr>
              <a:t>Blood-fresh received ZERO predictions — visually out-of-distribution for MedSAM's training set (endoscopy bleeding ≠ standard medical imaging blood).</a:t>
            </a:r>
            <a:endParaRPr lang="en-US" sz="1100" dirty="0"/>
          </a:p>
        </p:txBody>
      </p:sp>
      <p:sp>
        <p:nvSpPr>
          <p:cNvPr id="15" name="Text 10"/>
          <p:cNvSpPr/>
          <p:nvPr/>
        </p:nvSpPr>
        <p:spPr>
          <a:xfrm>
            <a:off x="320040" y="4626864"/>
            <a:ext cx="274320" cy="329184"/>
          </a:xfrm>
          <a:prstGeom prst="rect">
            <a:avLst/>
          </a:prstGeom>
          <a:noFill/>
          <a:ln/>
        </p:spPr>
        <p:txBody>
          <a:bodyPr wrap="square" lIns="0" tIns="0" rIns="0" bIns="0" rtlCol="0" anchor="ctr"/>
          <a:lstStyle/>
          <a:p>
            <a:pPr marL="0" indent="0">
              <a:buNone/>
            </a:pPr>
            <a:r>
              <a:rPr lang="en-US" sz="1300" b="1" dirty="0">
                <a:solidFill>
                  <a:srgbClr val="0E7490"/>
                </a:solidFill>
              </a:rPr>
              <a:t>►</a:t>
            </a:r>
            <a:endParaRPr lang="en-US" sz="1300" dirty="0"/>
          </a:p>
        </p:txBody>
      </p:sp>
      <p:sp>
        <p:nvSpPr>
          <p:cNvPr id="16" name="Text 11"/>
          <p:cNvSpPr/>
          <p:nvPr/>
        </p:nvSpPr>
        <p:spPr>
          <a:xfrm>
            <a:off x="640080" y="4626864"/>
            <a:ext cx="8229600" cy="329184"/>
          </a:xfrm>
          <a:prstGeom prst="rect">
            <a:avLst/>
          </a:prstGeom>
          <a:noFill/>
          <a:ln/>
        </p:spPr>
        <p:txBody>
          <a:bodyPr wrap="square" rtlCol="0" anchor="ctr"/>
          <a:lstStyle/>
          <a:p>
            <a:pPr marL="0" indent="0">
              <a:lnSpc>
                <a:spcPct val="110000"/>
              </a:lnSpc>
              <a:buNone/>
            </a:pPr>
            <a:r>
              <a:rPr lang="en-US" sz="1100" dirty="0">
                <a:solidFill>
                  <a:srgbClr val="475569"/>
                </a:solidFill>
                <a:latin typeface="Calibri" pitchFamily="34" charset="0"/>
                <a:ea typeface="Calibri" pitchFamily="34" charset="-122"/>
                <a:cs typeface="Calibri" pitchFamily="34" charset="-120"/>
              </a:rPr>
              <a:t>Fine-tuned CNNs (ResNet-152, DenseNet-161) still outperform zero-shot MedSAM by 4× on Micro F1, confirming domain-specific training is essential.</a:t>
            </a:r>
            <a:endParaRPr lang="en-US" sz="1100" dirty="0"/>
          </a:p>
        </p:txBody>
      </p:sp>
      <p:sp>
        <p:nvSpPr>
          <p:cNvPr id="17" name="TextBox 16">
            <a:extLst>
              <a:ext uri="{FF2B5EF4-FFF2-40B4-BE49-F238E27FC236}">
                <a16:creationId xmlns:a16="http://schemas.microsoft.com/office/drawing/2014/main" id="{F6838E93-8F7D-B679-00A8-DA5E51B818C4}"/>
              </a:ext>
            </a:extLst>
          </p:cNvPr>
          <p:cNvSpPr txBox="1"/>
          <p:nvPr/>
        </p:nvSpPr>
        <p:spPr>
          <a:xfrm>
            <a:off x="4038964" y="14776"/>
            <a:ext cx="4579256" cy="307777"/>
          </a:xfrm>
          <a:prstGeom prst="rect">
            <a:avLst/>
          </a:prstGeom>
          <a:noFill/>
        </p:spPr>
        <p:txBody>
          <a:bodyPr wrap="square">
            <a:spAutoFit/>
          </a:bodyPr>
          <a:lstStyle/>
          <a:p>
            <a:r>
              <a:rPr lang="en-US" sz="1400" dirty="0">
                <a:solidFill>
                  <a:schemeClr val="bg1"/>
                </a:solidFill>
              </a:rPr>
              <a:t>Page 9</a:t>
            </a:r>
            <a:endParaRPr lang="en-IN" sz="14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545"/>
          </a:solidFill>
          <a:ln w="12700">
            <a:solidFill>
              <a:srgbClr val="0D2545"/>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164592" y="91440"/>
            <a:ext cx="777240" cy="777240"/>
          </a:xfrm>
          <a:prstGeom prst="rect">
            <a:avLst/>
          </a:prstGeom>
        </p:spPr>
      </p:pic>
      <p:pic>
        <p:nvPicPr>
          <p:cNvPr id="4" name="Image 1" descr="preencoded.png"/>
          <p:cNvPicPr>
            <a:picLocks noChangeAspect="1"/>
          </p:cNvPicPr>
          <p:nvPr/>
        </p:nvPicPr>
        <p:blipFill>
          <a:blip r:embed="rId4"/>
          <a:stretch>
            <a:fillRect/>
          </a:stretch>
        </p:blipFill>
        <p:spPr>
          <a:xfrm>
            <a:off x="8229600" y="91440"/>
            <a:ext cx="777240" cy="777240"/>
          </a:xfrm>
          <a:prstGeom prst="rect">
            <a:avLst/>
          </a:prstGeom>
        </p:spPr>
      </p:pic>
      <p:sp>
        <p:nvSpPr>
          <p:cNvPr id="5" name="Text 1"/>
          <p:cNvSpPr/>
          <p:nvPr/>
        </p:nvSpPr>
        <p:spPr>
          <a:xfrm>
            <a:off x="1097280" y="137160"/>
            <a:ext cx="694944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Conclusions &amp; Future Work</a:t>
            </a:r>
            <a:endParaRPr lang="en-US" sz="2200" dirty="0"/>
          </a:p>
        </p:txBody>
      </p:sp>
      <p:sp>
        <p:nvSpPr>
          <p:cNvPr id="6" name="Shape 2"/>
          <p:cNvSpPr/>
          <p:nvPr/>
        </p:nvSpPr>
        <p:spPr>
          <a:xfrm>
            <a:off x="274320" y="1005840"/>
            <a:ext cx="4114800" cy="3931920"/>
          </a:xfrm>
          <a:prstGeom prst="rect">
            <a:avLst/>
          </a:prstGeom>
          <a:solidFill>
            <a:srgbClr val="1E3A5F"/>
          </a:solidFill>
          <a:ln w="12700">
            <a:solidFill>
              <a:srgbClr val="0E7490"/>
            </a:solidFill>
            <a:prstDash val="solid"/>
          </a:ln>
        </p:spPr>
        <p:txBody>
          <a:bodyPr/>
          <a:lstStyle/>
          <a:p>
            <a:endParaRPr lang="en-IN"/>
          </a:p>
        </p:txBody>
      </p:sp>
      <p:sp>
        <p:nvSpPr>
          <p:cNvPr id="7" name="Shape 3"/>
          <p:cNvSpPr/>
          <p:nvPr/>
        </p:nvSpPr>
        <p:spPr>
          <a:xfrm>
            <a:off x="274320" y="1005840"/>
            <a:ext cx="4114800" cy="411480"/>
          </a:xfrm>
          <a:prstGeom prst="rect">
            <a:avLst/>
          </a:prstGeom>
          <a:solidFill>
            <a:srgbClr val="0E7490"/>
          </a:solidFill>
          <a:ln w="12700">
            <a:solidFill>
              <a:srgbClr val="0E7490"/>
            </a:solidFill>
            <a:prstDash val="solid"/>
          </a:ln>
        </p:spPr>
        <p:txBody>
          <a:bodyPr/>
          <a:lstStyle/>
          <a:p>
            <a:endParaRPr lang="en-IN"/>
          </a:p>
        </p:txBody>
      </p:sp>
      <p:sp>
        <p:nvSpPr>
          <p:cNvPr id="8" name="Text 4"/>
          <p:cNvSpPr/>
          <p:nvPr/>
        </p:nvSpPr>
        <p:spPr>
          <a:xfrm>
            <a:off x="320040" y="1005840"/>
            <a:ext cx="402336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Conclusions</a:t>
            </a:r>
            <a:endParaRPr lang="en-US" sz="1400" dirty="0"/>
          </a:p>
        </p:txBody>
      </p:sp>
      <p:sp>
        <p:nvSpPr>
          <p:cNvPr id="9" name="Text 5"/>
          <p:cNvSpPr/>
          <p:nvPr/>
        </p:nvSpPr>
        <p:spPr>
          <a:xfrm>
            <a:off x="411480" y="1508760"/>
            <a:ext cx="3886200" cy="475488"/>
          </a:xfrm>
          <a:prstGeom prst="rect">
            <a:avLst/>
          </a:prstGeom>
          <a:noFill/>
          <a:ln/>
        </p:spPr>
        <p:txBody>
          <a:bodyPr wrap="square" rtlCol="0" anchor="ctr"/>
          <a:lstStyle/>
          <a:p>
            <a:pPr marL="0" indent="0">
              <a:lnSpc>
                <a:spcPct val="115000"/>
              </a:lnSpc>
              <a:buNone/>
            </a:pPr>
            <a:r>
              <a:rPr lang="en-US" sz="1100" b="1" dirty="0">
                <a:solidFill>
                  <a:srgbClr val="F59E0B"/>
                </a:solidFill>
                <a:latin typeface="Calibri" pitchFamily="34" charset="0"/>
                <a:ea typeface="Calibri" pitchFamily="34" charset="-122"/>
                <a:cs typeface="Calibri" pitchFamily="34" charset="-120"/>
              </a:rPr>
              <a:t>1.  </a:t>
            </a:r>
            <a:r>
              <a:rPr lang="en-US" sz="1100" dirty="0">
                <a:solidFill>
                  <a:srgbClr val="94A3B8"/>
                </a:solidFill>
                <a:latin typeface="Calibri" pitchFamily="34" charset="0"/>
                <a:ea typeface="Calibri" pitchFamily="34" charset="-122"/>
                <a:cs typeface="Calibri" pitchFamily="34" charset="-120"/>
              </a:rPr>
              <a:t>Successfully built a complete data preparation &amp; evaluation pipeline for Kvasir-Capsule</a:t>
            </a:r>
            <a:endParaRPr lang="en-US" sz="1100" dirty="0"/>
          </a:p>
        </p:txBody>
      </p:sp>
      <p:sp>
        <p:nvSpPr>
          <p:cNvPr id="10" name="Text 6"/>
          <p:cNvSpPr/>
          <p:nvPr/>
        </p:nvSpPr>
        <p:spPr>
          <a:xfrm>
            <a:off x="411480" y="2039112"/>
            <a:ext cx="3886200" cy="475488"/>
          </a:xfrm>
          <a:prstGeom prst="rect">
            <a:avLst/>
          </a:prstGeom>
          <a:noFill/>
          <a:ln/>
        </p:spPr>
        <p:txBody>
          <a:bodyPr wrap="square" rtlCol="0" anchor="ctr"/>
          <a:lstStyle/>
          <a:p>
            <a:pPr marL="0" indent="0">
              <a:lnSpc>
                <a:spcPct val="115000"/>
              </a:lnSpc>
              <a:buNone/>
            </a:pPr>
            <a:r>
              <a:rPr lang="en-US" sz="1100" b="1" dirty="0">
                <a:solidFill>
                  <a:srgbClr val="F59E0B"/>
                </a:solidFill>
                <a:latin typeface="Calibri" pitchFamily="34" charset="0"/>
                <a:ea typeface="Calibri" pitchFamily="34" charset="-122"/>
                <a:cs typeface="Calibri" pitchFamily="34" charset="-120"/>
              </a:rPr>
              <a:t>2.  </a:t>
            </a:r>
            <a:r>
              <a:rPr lang="en-US" sz="1100" dirty="0">
                <a:solidFill>
                  <a:srgbClr val="94A3B8"/>
                </a:solidFill>
                <a:latin typeface="Calibri" pitchFamily="34" charset="0"/>
                <a:ea typeface="Calibri" pitchFamily="34" charset="-122"/>
                <a:cs typeface="Calibri" pitchFamily="34" charset="-120"/>
              </a:rPr>
              <a:t>CLIP (30% accuracy) and BLIP-2 (hallucinations) failed entirely on capsule endoscopy imagery</a:t>
            </a:r>
            <a:endParaRPr lang="en-US" sz="1100" dirty="0"/>
          </a:p>
        </p:txBody>
      </p:sp>
      <p:sp>
        <p:nvSpPr>
          <p:cNvPr id="11" name="Text 7"/>
          <p:cNvSpPr/>
          <p:nvPr/>
        </p:nvSpPr>
        <p:spPr>
          <a:xfrm>
            <a:off x="411480" y="2569464"/>
            <a:ext cx="3886200" cy="475488"/>
          </a:xfrm>
          <a:prstGeom prst="rect">
            <a:avLst/>
          </a:prstGeom>
          <a:noFill/>
          <a:ln/>
        </p:spPr>
        <p:txBody>
          <a:bodyPr wrap="square" rtlCol="0" anchor="ctr"/>
          <a:lstStyle/>
          <a:p>
            <a:pPr marL="0" indent="0">
              <a:lnSpc>
                <a:spcPct val="115000"/>
              </a:lnSpc>
              <a:buNone/>
            </a:pPr>
            <a:r>
              <a:rPr lang="en-US" sz="1100" b="1" dirty="0">
                <a:solidFill>
                  <a:srgbClr val="F59E0B"/>
                </a:solidFill>
                <a:latin typeface="Calibri" pitchFamily="34" charset="0"/>
                <a:ea typeface="Calibri" pitchFamily="34" charset="-122"/>
                <a:cs typeface="Calibri" pitchFamily="34" charset="-120"/>
              </a:rPr>
              <a:t>3.  </a:t>
            </a:r>
            <a:r>
              <a:rPr lang="en-US" sz="1100" dirty="0">
                <a:solidFill>
                  <a:srgbClr val="94A3B8"/>
                </a:solidFill>
                <a:latin typeface="Calibri" pitchFamily="34" charset="0"/>
                <a:ea typeface="Calibri" pitchFamily="34" charset="-122"/>
                <a:cs typeface="Calibri" pitchFamily="34" charset="-120"/>
              </a:rPr>
              <a:t>MedSAM zero-shot Micro F1 = 0.1795 — far below fine-tuned ResNet-152 (0.734) and DenseNet-161 (0.735)</a:t>
            </a:r>
            <a:endParaRPr lang="en-US" sz="1100" dirty="0"/>
          </a:p>
        </p:txBody>
      </p:sp>
      <p:sp>
        <p:nvSpPr>
          <p:cNvPr id="12" name="Text 8"/>
          <p:cNvSpPr/>
          <p:nvPr/>
        </p:nvSpPr>
        <p:spPr>
          <a:xfrm>
            <a:off x="411480" y="3099816"/>
            <a:ext cx="3886200" cy="475488"/>
          </a:xfrm>
          <a:prstGeom prst="rect">
            <a:avLst/>
          </a:prstGeom>
          <a:noFill/>
          <a:ln/>
        </p:spPr>
        <p:txBody>
          <a:bodyPr wrap="square" rtlCol="0" anchor="ctr"/>
          <a:lstStyle/>
          <a:p>
            <a:pPr marL="0" indent="0">
              <a:lnSpc>
                <a:spcPct val="115000"/>
              </a:lnSpc>
              <a:buNone/>
            </a:pPr>
            <a:r>
              <a:rPr lang="en-US" sz="1100" b="1" dirty="0">
                <a:solidFill>
                  <a:srgbClr val="F59E0B"/>
                </a:solidFill>
                <a:latin typeface="Calibri" pitchFamily="34" charset="0"/>
                <a:ea typeface="Calibri" pitchFamily="34" charset="-122"/>
                <a:cs typeface="Calibri" pitchFamily="34" charset="-120"/>
              </a:rPr>
              <a:t>4.  </a:t>
            </a:r>
            <a:r>
              <a:rPr lang="en-US" sz="1100" dirty="0">
                <a:solidFill>
                  <a:srgbClr val="94A3B8"/>
                </a:solidFill>
                <a:latin typeface="Calibri" pitchFamily="34" charset="0"/>
                <a:ea typeface="Calibri" pitchFamily="34" charset="-122"/>
                <a:cs typeface="Calibri" pitchFamily="34" charset="-120"/>
              </a:rPr>
              <a:t>Mean IoU 0.5101 &amp; Dice 0.6152 show adequate mask quality when prompted, but recall is critically low</a:t>
            </a:r>
            <a:endParaRPr lang="en-US" sz="1100" dirty="0"/>
          </a:p>
        </p:txBody>
      </p:sp>
      <p:sp>
        <p:nvSpPr>
          <p:cNvPr id="13" name="Text 9"/>
          <p:cNvSpPr/>
          <p:nvPr/>
        </p:nvSpPr>
        <p:spPr>
          <a:xfrm>
            <a:off x="411480" y="3630168"/>
            <a:ext cx="3886200" cy="475488"/>
          </a:xfrm>
          <a:prstGeom prst="rect">
            <a:avLst/>
          </a:prstGeom>
          <a:noFill/>
          <a:ln/>
        </p:spPr>
        <p:txBody>
          <a:bodyPr wrap="square" rtlCol="0" anchor="ctr"/>
          <a:lstStyle/>
          <a:p>
            <a:pPr marL="0" indent="0">
              <a:lnSpc>
                <a:spcPct val="115000"/>
              </a:lnSpc>
              <a:buNone/>
            </a:pPr>
            <a:r>
              <a:rPr lang="en-US" sz="1100" b="1" dirty="0">
                <a:solidFill>
                  <a:srgbClr val="F59E0B"/>
                </a:solidFill>
                <a:latin typeface="Calibri" pitchFamily="34" charset="0"/>
                <a:ea typeface="Calibri" pitchFamily="34" charset="-122"/>
                <a:cs typeface="Calibri" pitchFamily="34" charset="-120"/>
              </a:rPr>
              <a:t>5.  </a:t>
            </a:r>
            <a:r>
              <a:rPr lang="en-US" sz="1100" dirty="0">
                <a:solidFill>
                  <a:srgbClr val="94A3B8"/>
                </a:solidFill>
                <a:latin typeface="Calibri" pitchFamily="34" charset="0"/>
                <a:ea typeface="Calibri" pitchFamily="34" charset="-122"/>
                <a:cs typeface="Calibri" pitchFamily="34" charset="-120"/>
              </a:rPr>
              <a:t>Blood-fresh: 0 predictions — an entirely out-of-distribution finding for MedSAM</a:t>
            </a:r>
            <a:endParaRPr lang="en-US" sz="1100" dirty="0"/>
          </a:p>
        </p:txBody>
      </p:sp>
      <p:sp>
        <p:nvSpPr>
          <p:cNvPr id="14" name="Text 10"/>
          <p:cNvSpPr/>
          <p:nvPr/>
        </p:nvSpPr>
        <p:spPr>
          <a:xfrm>
            <a:off x="411480" y="4160520"/>
            <a:ext cx="3886200" cy="475488"/>
          </a:xfrm>
          <a:prstGeom prst="rect">
            <a:avLst/>
          </a:prstGeom>
          <a:noFill/>
          <a:ln/>
        </p:spPr>
        <p:txBody>
          <a:bodyPr wrap="square" rtlCol="0" anchor="ctr"/>
          <a:lstStyle/>
          <a:p>
            <a:pPr marL="0" indent="0">
              <a:lnSpc>
                <a:spcPct val="115000"/>
              </a:lnSpc>
              <a:buNone/>
            </a:pPr>
            <a:r>
              <a:rPr lang="en-US" sz="1100" b="1" dirty="0">
                <a:solidFill>
                  <a:srgbClr val="F59E0B"/>
                </a:solidFill>
                <a:latin typeface="Calibri" pitchFamily="34" charset="0"/>
                <a:ea typeface="Calibri" pitchFamily="34" charset="-122"/>
                <a:cs typeface="Calibri" pitchFamily="34" charset="-120"/>
              </a:rPr>
              <a:t>6.  </a:t>
            </a:r>
            <a:r>
              <a:rPr lang="en-US" sz="1100" dirty="0">
                <a:solidFill>
                  <a:srgbClr val="94A3B8"/>
                </a:solidFill>
                <a:latin typeface="Calibri" pitchFamily="34" charset="0"/>
                <a:ea typeface="Calibri" pitchFamily="34" charset="-122"/>
                <a:cs typeface="Calibri" pitchFamily="34" charset="-120"/>
              </a:rPr>
              <a:t>Pretrained foundation models are insufficient for capsule endoscopy without domain-specific adaptation</a:t>
            </a:r>
            <a:endParaRPr lang="en-US" sz="1100" dirty="0"/>
          </a:p>
        </p:txBody>
      </p:sp>
      <p:sp>
        <p:nvSpPr>
          <p:cNvPr id="15" name="Shape 11"/>
          <p:cNvSpPr/>
          <p:nvPr/>
        </p:nvSpPr>
        <p:spPr>
          <a:xfrm>
            <a:off x="4663440" y="1005840"/>
            <a:ext cx="4206240" cy="3931920"/>
          </a:xfrm>
          <a:prstGeom prst="rect">
            <a:avLst/>
          </a:prstGeom>
          <a:solidFill>
            <a:srgbClr val="1E3A5F"/>
          </a:solidFill>
          <a:ln w="12700">
            <a:solidFill>
              <a:srgbClr val="F59E0B"/>
            </a:solidFill>
            <a:prstDash val="solid"/>
          </a:ln>
        </p:spPr>
        <p:txBody>
          <a:bodyPr/>
          <a:lstStyle/>
          <a:p>
            <a:endParaRPr lang="en-IN"/>
          </a:p>
        </p:txBody>
      </p:sp>
      <p:sp>
        <p:nvSpPr>
          <p:cNvPr id="16" name="Shape 12"/>
          <p:cNvSpPr/>
          <p:nvPr/>
        </p:nvSpPr>
        <p:spPr>
          <a:xfrm>
            <a:off x="4663440" y="1005840"/>
            <a:ext cx="4206240" cy="411480"/>
          </a:xfrm>
          <a:prstGeom prst="rect">
            <a:avLst/>
          </a:prstGeom>
          <a:solidFill>
            <a:srgbClr val="F59E0B"/>
          </a:solidFill>
          <a:ln w="12700">
            <a:solidFill>
              <a:srgbClr val="F59E0B"/>
            </a:solidFill>
            <a:prstDash val="solid"/>
          </a:ln>
        </p:spPr>
        <p:txBody>
          <a:bodyPr/>
          <a:lstStyle/>
          <a:p>
            <a:endParaRPr lang="en-IN"/>
          </a:p>
        </p:txBody>
      </p:sp>
      <p:sp>
        <p:nvSpPr>
          <p:cNvPr id="17" name="Text 13"/>
          <p:cNvSpPr/>
          <p:nvPr/>
        </p:nvSpPr>
        <p:spPr>
          <a:xfrm>
            <a:off x="4709160" y="1005840"/>
            <a:ext cx="411480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Future Work</a:t>
            </a:r>
            <a:endParaRPr lang="en-US" sz="1400" dirty="0"/>
          </a:p>
        </p:txBody>
      </p:sp>
      <p:sp>
        <p:nvSpPr>
          <p:cNvPr id="18" name="Shape 14"/>
          <p:cNvSpPr/>
          <p:nvPr/>
        </p:nvSpPr>
        <p:spPr>
          <a:xfrm>
            <a:off x="4754880" y="1554480"/>
            <a:ext cx="36576" cy="502920"/>
          </a:xfrm>
          <a:prstGeom prst="rect">
            <a:avLst/>
          </a:prstGeom>
          <a:solidFill>
            <a:srgbClr val="F59E0B"/>
          </a:solidFill>
          <a:ln w="12700">
            <a:solidFill>
              <a:srgbClr val="F59E0B"/>
            </a:solidFill>
            <a:prstDash val="solid"/>
          </a:ln>
        </p:spPr>
        <p:txBody>
          <a:bodyPr/>
          <a:lstStyle/>
          <a:p>
            <a:endParaRPr lang="en-IN"/>
          </a:p>
        </p:txBody>
      </p:sp>
      <p:sp>
        <p:nvSpPr>
          <p:cNvPr id="19" name="Text 15"/>
          <p:cNvSpPr/>
          <p:nvPr/>
        </p:nvSpPr>
        <p:spPr>
          <a:xfrm>
            <a:off x="4892040" y="1554480"/>
            <a:ext cx="3840480" cy="256032"/>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Fine-tune MedSAM</a:t>
            </a:r>
            <a:endParaRPr lang="en-US" sz="1200" dirty="0"/>
          </a:p>
        </p:txBody>
      </p:sp>
      <p:sp>
        <p:nvSpPr>
          <p:cNvPr id="20" name="Text 16"/>
          <p:cNvSpPr/>
          <p:nvPr/>
        </p:nvSpPr>
        <p:spPr>
          <a:xfrm>
            <a:off x="4892040" y="1810512"/>
            <a:ext cx="3840480" cy="32004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Fine-tune MedSAM checkpoint on Kvasir-Capsule dataset to close the domain gap and improve recall significantly</a:t>
            </a:r>
            <a:endParaRPr lang="en-US" sz="1050" dirty="0"/>
          </a:p>
        </p:txBody>
      </p:sp>
      <p:sp>
        <p:nvSpPr>
          <p:cNvPr id="21" name="Shape 17"/>
          <p:cNvSpPr/>
          <p:nvPr/>
        </p:nvSpPr>
        <p:spPr>
          <a:xfrm>
            <a:off x="4754880" y="2212848"/>
            <a:ext cx="36576" cy="502920"/>
          </a:xfrm>
          <a:prstGeom prst="rect">
            <a:avLst/>
          </a:prstGeom>
          <a:solidFill>
            <a:srgbClr val="F59E0B"/>
          </a:solidFill>
          <a:ln w="12700">
            <a:solidFill>
              <a:srgbClr val="F59E0B"/>
            </a:solidFill>
            <a:prstDash val="solid"/>
          </a:ln>
        </p:spPr>
        <p:txBody>
          <a:bodyPr/>
          <a:lstStyle/>
          <a:p>
            <a:endParaRPr lang="en-IN"/>
          </a:p>
        </p:txBody>
      </p:sp>
      <p:sp>
        <p:nvSpPr>
          <p:cNvPr id="22" name="Text 18"/>
          <p:cNvSpPr/>
          <p:nvPr/>
        </p:nvSpPr>
        <p:spPr>
          <a:xfrm>
            <a:off x="4892040" y="2212848"/>
            <a:ext cx="3840480" cy="256032"/>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Video RAG Pipeline</a:t>
            </a:r>
            <a:endParaRPr lang="en-US" sz="1200" dirty="0"/>
          </a:p>
        </p:txBody>
      </p:sp>
      <p:sp>
        <p:nvSpPr>
          <p:cNvPr id="23" name="Text 19"/>
          <p:cNvSpPr/>
          <p:nvPr/>
        </p:nvSpPr>
        <p:spPr>
          <a:xfrm>
            <a:off x="4892040" y="2468880"/>
            <a:ext cx="3840480" cy="32004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Explore Video RAG with Vision LLMs for natural language querying over capsule endoscopy video archives</a:t>
            </a:r>
            <a:endParaRPr lang="en-US" sz="1050" dirty="0"/>
          </a:p>
        </p:txBody>
      </p:sp>
      <p:sp>
        <p:nvSpPr>
          <p:cNvPr id="24" name="Shape 20"/>
          <p:cNvSpPr/>
          <p:nvPr/>
        </p:nvSpPr>
        <p:spPr>
          <a:xfrm>
            <a:off x="4754880" y="2871216"/>
            <a:ext cx="36576" cy="502920"/>
          </a:xfrm>
          <a:prstGeom prst="rect">
            <a:avLst/>
          </a:prstGeom>
          <a:solidFill>
            <a:srgbClr val="F59E0B"/>
          </a:solidFill>
          <a:ln w="12700">
            <a:solidFill>
              <a:srgbClr val="F59E0B"/>
            </a:solidFill>
            <a:prstDash val="solid"/>
          </a:ln>
        </p:spPr>
        <p:txBody>
          <a:bodyPr/>
          <a:lstStyle/>
          <a:p>
            <a:endParaRPr lang="en-IN"/>
          </a:p>
        </p:txBody>
      </p:sp>
      <p:sp>
        <p:nvSpPr>
          <p:cNvPr id="25" name="Text 21"/>
          <p:cNvSpPr/>
          <p:nvPr/>
        </p:nvSpPr>
        <p:spPr>
          <a:xfrm>
            <a:off x="4892040" y="2871216"/>
            <a:ext cx="3840480" cy="256032"/>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LLaVA Full Evaluation</a:t>
            </a:r>
            <a:endParaRPr lang="en-US" sz="1200" dirty="0"/>
          </a:p>
        </p:txBody>
      </p:sp>
      <p:sp>
        <p:nvSpPr>
          <p:cNvPr id="26" name="Text 22"/>
          <p:cNvSpPr/>
          <p:nvPr/>
        </p:nvSpPr>
        <p:spPr>
          <a:xfrm>
            <a:off x="4892040" y="3127248"/>
            <a:ext cx="3840480" cy="32004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Full benchmark of LLaVA 1.5 7B with dedicated hardware (A100 GPU) for multimodal clinical QA</a:t>
            </a:r>
            <a:endParaRPr lang="en-US" sz="1050" dirty="0"/>
          </a:p>
        </p:txBody>
      </p:sp>
      <p:sp>
        <p:nvSpPr>
          <p:cNvPr id="27" name="Shape 23"/>
          <p:cNvSpPr/>
          <p:nvPr/>
        </p:nvSpPr>
        <p:spPr>
          <a:xfrm>
            <a:off x="4754880" y="3529584"/>
            <a:ext cx="36576" cy="502920"/>
          </a:xfrm>
          <a:prstGeom prst="rect">
            <a:avLst/>
          </a:prstGeom>
          <a:solidFill>
            <a:srgbClr val="F59E0B"/>
          </a:solidFill>
          <a:ln w="12700">
            <a:solidFill>
              <a:srgbClr val="F59E0B"/>
            </a:solidFill>
            <a:prstDash val="solid"/>
          </a:ln>
        </p:spPr>
        <p:txBody>
          <a:bodyPr/>
          <a:lstStyle/>
          <a:p>
            <a:endParaRPr lang="en-IN"/>
          </a:p>
        </p:txBody>
      </p:sp>
      <p:sp>
        <p:nvSpPr>
          <p:cNvPr id="28" name="Text 24"/>
          <p:cNvSpPr/>
          <p:nvPr/>
        </p:nvSpPr>
        <p:spPr>
          <a:xfrm>
            <a:off x="4892040" y="3529584"/>
            <a:ext cx="3840480" cy="256032"/>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All 14 Classes</a:t>
            </a:r>
            <a:endParaRPr lang="en-US" sz="1200" dirty="0"/>
          </a:p>
        </p:txBody>
      </p:sp>
      <p:sp>
        <p:nvSpPr>
          <p:cNvPr id="29" name="Text 25"/>
          <p:cNvSpPr/>
          <p:nvPr/>
        </p:nvSpPr>
        <p:spPr>
          <a:xfrm>
            <a:off x="4892040" y="3785616"/>
            <a:ext cx="3840480" cy="32004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Extend pipeline to all 14 Kvasir-Capsule finding classes beyond the initial 4 critical classes</a:t>
            </a:r>
            <a:endParaRPr lang="en-US" sz="1050" dirty="0"/>
          </a:p>
        </p:txBody>
      </p:sp>
      <p:sp>
        <p:nvSpPr>
          <p:cNvPr id="30" name="Shape 26"/>
          <p:cNvSpPr/>
          <p:nvPr/>
        </p:nvSpPr>
        <p:spPr>
          <a:xfrm>
            <a:off x="4754880" y="4187952"/>
            <a:ext cx="36576" cy="502920"/>
          </a:xfrm>
          <a:prstGeom prst="rect">
            <a:avLst/>
          </a:prstGeom>
          <a:solidFill>
            <a:srgbClr val="F59E0B"/>
          </a:solidFill>
          <a:ln w="12700">
            <a:solidFill>
              <a:srgbClr val="F59E0B"/>
            </a:solidFill>
            <a:prstDash val="solid"/>
          </a:ln>
        </p:spPr>
        <p:txBody>
          <a:bodyPr/>
          <a:lstStyle/>
          <a:p>
            <a:endParaRPr lang="en-IN"/>
          </a:p>
        </p:txBody>
      </p:sp>
      <p:sp>
        <p:nvSpPr>
          <p:cNvPr id="31" name="Text 27"/>
          <p:cNvSpPr/>
          <p:nvPr/>
        </p:nvSpPr>
        <p:spPr>
          <a:xfrm>
            <a:off x="4892040" y="4187952"/>
            <a:ext cx="3840480" cy="256032"/>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Temporal Modelling</a:t>
            </a:r>
            <a:endParaRPr lang="en-US" sz="1200" dirty="0"/>
          </a:p>
        </p:txBody>
      </p:sp>
      <p:sp>
        <p:nvSpPr>
          <p:cNvPr id="32" name="Text 28"/>
          <p:cNvSpPr/>
          <p:nvPr/>
        </p:nvSpPr>
        <p:spPr>
          <a:xfrm>
            <a:off x="4892040" y="4443984"/>
            <a:ext cx="3840480" cy="32004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Leverage video-level context (optical flow, temporal consistency) to improve detection across frame sequences</a:t>
            </a:r>
            <a:endParaRPr lang="en-US" sz="1050" dirty="0"/>
          </a:p>
        </p:txBody>
      </p:sp>
      <p:sp>
        <p:nvSpPr>
          <p:cNvPr id="33" name="TextBox 32">
            <a:extLst>
              <a:ext uri="{FF2B5EF4-FFF2-40B4-BE49-F238E27FC236}">
                <a16:creationId xmlns:a16="http://schemas.microsoft.com/office/drawing/2014/main" id="{DD702531-2B35-9BB6-A07D-F9C81E54E692}"/>
              </a:ext>
            </a:extLst>
          </p:cNvPr>
          <p:cNvSpPr txBox="1"/>
          <p:nvPr/>
        </p:nvSpPr>
        <p:spPr>
          <a:xfrm>
            <a:off x="4038964" y="14776"/>
            <a:ext cx="4579256" cy="307777"/>
          </a:xfrm>
          <a:prstGeom prst="rect">
            <a:avLst/>
          </a:prstGeom>
          <a:noFill/>
        </p:spPr>
        <p:txBody>
          <a:bodyPr wrap="square">
            <a:spAutoFit/>
          </a:bodyPr>
          <a:lstStyle/>
          <a:p>
            <a:r>
              <a:rPr lang="en-US" sz="1400" dirty="0">
                <a:solidFill>
                  <a:schemeClr val="bg1"/>
                </a:solidFill>
              </a:rPr>
              <a:t>Page 10</a:t>
            </a:r>
            <a:endParaRPr lang="en-IN" sz="14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545"/>
          </a:solidFill>
          <a:ln w="12700">
            <a:solidFill>
              <a:srgbClr val="0D2545"/>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164592" y="91440"/>
            <a:ext cx="777240" cy="777240"/>
          </a:xfrm>
          <a:prstGeom prst="rect">
            <a:avLst/>
          </a:prstGeom>
        </p:spPr>
      </p:pic>
      <p:pic>
        <p:nvPicPr>
          <p:cNvPr id="4" name="Image 1" descr="preencoded.png"/>
          <p:cNvPicPr>
            <a:picLocks noChangeAspect="1"/>
          </p:cNvPicPr>
          <p:nvPr/>
        </p:nvPicPr>
        <p:blipFill>
          <a:blip r:embed="rId4"/>
          <a:stretch>
            <a:fillRect/>
          </a:stretch>
        </p:blipFill>
        <p:spPr>
          <a:xfrm>
            <a:off x="8229600" y="91440"/>
            <a:ext cx="777240" cy="777240"/>
          </a:xfrm>
          <a:prstGeom prst="rect">
            <a:avLst/>
          </a:prstGeom>
        </p:spPr>
      </p:pic>
      <p:sp>
        <p:nvSpPr>
          <p:cNvPr id="5" name="Text 1"/>
          <p:cNvSpPr/>
          <p:nvPr/>
        </p:nvSpPr>
        <p:spPr>
          <a:xfrm>
            <a:off x="1097280" y="137160"/>
            <a:ext cx="694944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Tools, Links &amp; References</a:t>
            </a:r>
            <a:endParaRPr lang="en-US" sz="2200" dirty="0"/>
          </a:p>
        </p:txBody>
      </p:sp>
      <p:sp>
        <p:nvSpPr>
          <p:cNvPr id="6" name="Shape 2"/>
          <p:cNvSpPr/>
          <p:nvPr/>
        </p:nvSpPr>
        <p:spPr>
          <a:xfrm>
            <a:off x="274320" y="1005840"/>
            <a:ext cx="4023360" cy="15544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IN"/>
          </a:p>
        </p:txBody>
      </p:sp>
      <p:sp>
        <p:nvSpPr>
          <p:cNvPr id="7" name="Shape 3"/>
          <p:cNvSpPr/>
          <p:nvPr/>
        </p:nvSpPr>
        <p:spPr>
          <a:xfrm>
            <a:off x="274320" y="1005840"/>
            <a:ext cx="4023360" cy="347472"/>
          </a:xfrm>
          <a:prstGeom prst="rect">
            <a:avLst/>
          </a:prstGeom>
          <a:solidFill>
            <a:srgbClr val="0E7490"/>
          </a:solidFill>
          <a:ln w="12700">
            <a:solidFill>
              <a:srgbClr val="0E7490"/>
            </a:solidFill>
            <a:prstDash val="solid"/>
          </a:ln>
        </p:spPr>
        <p:txBody>
          <a:bodyPr/>
          <a:lstStyle/>
          <a:p>
            <a:endParaRPr lang="en-IN"/>
          </a:p>
        </p:txBody>
      </p:sp>
      <p:sp>
        <p:nvSpPr>
          <p:cNvPr id="8" name="Text 4"/>
          <p:cNvSpPr/>
          <p:nvPr/>
        </p:nvSpPr>
        <p:spPr>
          <a:xfrm>
            <a:off x="320040" y="1005840"/>
            <a:ext cx="39319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Project Links</a:t>
            </a:r>
            <a:endParaRPr lang="en-US" sz="1300" dirty="0"/>
          </a:p>
        </p:txBody>
      </p:sp>
      <p:sp>
        <p:nvSpPr>
          <p:cNvPr id="9" name="Text 5"/>
          <p:cNvSpPr/>
          <p:nvPr/>
        </p:nvSpPr>
        <p:spPr>
          <a:xfrm>
            <a:off x="411480" y="1417320"/>
            <a:ext cx="3749040" cy="347472"/>
          </a:xfrm>
          <a:prstGeom prst="rect">
            <a:avLst/>
          </a:prstGeom>
          <a:noFill/>
          <a:ln/>
        </p:spPr>
        <p:txBody>
          <a:bodyPr wrap="square" rtlCol="0" anchor="ctr"/>
          <a:lstStyle/>
          <a:p>
            <a:pPr marL="0" indent="0">
              <a:buNone/>
            </a:pPr>
            <a:r>
              <a:rPr lang="en-US" sz="1200" b="1" dirty="0">
                <a:solidFill>
                  <a:srgbClr val="0D2545"/>
                </a:solidFill>
                <a:latin typeface="Calibri" pitchFamily="34" charset="0"/>
                <a:ea typeface="Calibri" pitchFamily="34" charset="-122"/>
                <a:cs typeface="Calibri" pitchFamily="34" charset="-120"/>
              </a:rPr>
              <a:t>GitHub Repository: </a:t>
            </a:r>
            <a:r>
              <a:rPr lang="en-US" sz="1200" b="1" dirty="0">
                <a:solidFill>
                  <a:srgbClr val="0D2545"/>
                </a:solidFill>
                <a:latin typeface="Calibri" pitchFamily="34" charset="0"/>
                <a:ea typeface="Calibri" pitchFamily="34" charset="-122"/>
                <a:cs typeface="Calibri" pitchFamily="34" charset="-120"/>
                <a:hlinkClick r:id="rId5"/>
              </a:rPr>
              <a:t>GitHub Link</a:t>
            </a:r>
            <a:endParaRPr lang="en-US" sz="1200" dirty="0"/>
          </a:p>
        </p:txBody>
      </p:sp>
      <p:sp>
        <p:nvSpPr>
          <p:cNvPr id="10" name="Text 6"/>
          <p:cNvSpPr/>
          <p:nvPr/>
        </p:nvSpPr>
        <p:spPr>
          <a:xfrm>
            <a:off x="411480" y="1783080"/>
            <a:ext cx="3749040" cy="347472"/>
          </a:xfrm>
          <a:prstGeom prst="rect">
            <a:avLst/>
          </a:prstGeom>
          <a:noFill/>
          <a:ln/>
        </p:spPr>
        <p:txBody>
          <a:bodyPr wrap="square" rtlCol="0" anchor="ctr"/>
          <a:lstStyle/>
          <a:p>
            <a:pPr marL="0" indent="0">
              <a:buNone/>
            </a:pPr>
            <a:r>
              <a:rPr lang="en-US" sz="1200" b="1" dirty="0">
                <a:solidFill>
                  <a:srgbClr val="0D2545"/>
                </a:solidFill>
                <a:latin typeface="Calibri" pitchFamily="34" charset="0"/>
                <a:ea typeface="Calibri" pitchFamily="34" charset="-122"/>
                <a:cs typeface="Calibri" pitchFamily="34" charset="-120"/>
              </a:rPr>
              <a:t>Google Drive: </a:t>
            </a:r>
            <a:r>
              <a:rPr lang="en-US" sz="1200" b="1" u="sng" dirty="0">
                <a:solidFill>
                  <a:srgbClr val="0E7490"/>
                </a:solidFill>
                <a:latin typeface="Calibri" pitchFamily="34" charset="0"/>
                <a:ea typeface="Calibri" pitchFamily="34" charset="-122"/>
                <a:cs typeface="Calibri" pitchFamily="34" charset="-120"/>
                <a:hlinkClick r:id="rId6"/>
              </a:rPr>
              <a:t>Gdrive</a:t>
            </a:r>
            <a:endParaRPr lang="en-US" sz="1200" dirty="0"/>
          </a:p>
        </p:txBody>
      </p:sp>
      <p:sp>
        <p:nvSpPr>
          <p:cNvPr id="11" name="Text 7"/>
          <p:cNvSpPr/>
          <p:nvPr/>
        </p:nvSpPr>
        <p:spPr>
          <a:xfrm>
            <a:off x="411480" y="2148840"/>
            <a:ext cx="3749040" cy="32004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(Code, MedSAM inference scripts, data pipeline, media outputs, metrics JSON)</a:t>
            </a:r>
            <a:endParaRPr lang="en-US" sz="1000" dirty="0"/>
          </a:p>
        </p:txBody>
      </p:sp>
      <p:sp>
        <p:nvSpPr>
          <p:cNvPr id="12" name="Shape 8"/>
          <p:cNvSpPr/>
          <p:nvPr/>
        </p:nvSpPr>
        <p:spPr>
          <a:xfrm>
            <a:off x="4572000" y="1005840"/>
            <a:ext cx="4297680" cy="15544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IN"/>
          </a:p>
        </p:txBody>
      </p:sp>
      <p:sp>
        <p:nvSpPr>
          <p:cNvPr id="13" name="Shape 9"/>
          <p:cNvSpPr/>
          <p:nvPr/>
        </p:nvSpPr>
        <p:spPr>
          <a:xfrm>
            <a:off x="4572000" y="1005840"/>
            <a:ext cx="4297680" cy="347472"/>
          </a:xfrm>
          <a:prstGeom prst="rect">
            <a:avLst/>
          </a:prstGeom>
          <a:solidFill>
            <a:srgbClr val="0D2545"/>
          </a:solidFill>
          <a:ln w="12700">
            <a:solidFill>
              <a:srgbClr val="0D2545"/>
            </a:solidFill>
            <a:prstDash val="solid"/>
          </a:ln>
        </p:spPr>
        <p:txBody>
          <a:bodyPr/>
          <a:lstStyle/>
          <a:p>
            <a:endParaRPr lang="en-IN"/>
          </a:p>
        </p:txBody>
      </p:sp>
      <p:sp>
        <p:nvSpPr>
          <p:cNvPr id="14" name="Text 10"/>
          <p:cNvSpPr/>
          <p:nvPr/>
        </p:nvSpPr>
        <p:spPr>
          <a:xfrm>
            <a:off x="4617720" y="1005840"/>
            <a:ext cx="420624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Tools &amp; Libraries</a:t>
            </a:r>
            <a:endParaRPr lang="en-US" sz="1300" dirty="0"/>
          </a:p>
        </p:txBody>
      </p:sp>
      <p:sp>
        <p:nvSpPr>
          <p:cNvPr id="15" name="Text 11"/>
          <p:cNvSpPr/>
          <p:nvPr/>
        </p:nvSpPr>
        <p:spPr>
          <a:xfrm>
            <a:off x="4663440" y="1417320"/>
            <a:ext cx="4114800" cy="1097280"/>
          </a:xfrm>
          <a:prstGeom prst="rect">
            <a:avLst/>
          </a:prstGeom>
          <a:noFill/>
          <a:ln/>
        </p:spPr>
        <p:txBody>
          <a:bodyPr wrap="square" rtlCol="0" anchor="ctr"/>
          <a:lstStyle/>
          <a:p>
            <a:pPr marL="0" indent="0">
              <a:lnSpc>
                <a:spcPct val="130000"/>
              </a:lnSpc>
              <a:buNone/>
            </a:pPr>
            <a:r>
              <a:rPr lang="en-US" sz="1150" dirty="0">
                <a:solidFill>
                  <a:srgbClr val="475569"/>
                </a:solidFill>
                <a:latin typeface="Calibri" pitchFamily="34" charset="0"/>
                <a:ea typeface="Calibri" pitchFamily="34" charset="-122"/>
                <a:cs typeface="Calibri" pitchFamily="34" charset="-120"/>
              </a:rPr>
              <a:t>Python 3.12 · OpenCV 4.x · MoviePy 2.0 · HuggingFace Transformers 5.x · MedSAM / segment_anything · PyTorch 2.x · NumPy · Matplotlib · Google Colab</a:t>
            </a:r>
            <a:endParaRPr lang="en-US" sz="1150" dirty="0"/>
          </a:p>
        </p:txBody>
      </p:sp>
      <p:sp>
        <p:nvSpPr>
          <p:cNvPr id="16" name="Shape 12"/>
          <p:cNvSpPr/>
          <p:nvPr/>
        </p:nvSpPr>
        <p:spPr>
          <a:xfrm>
            <a:off x="274320" y="2743200"/>
            <a:ext cx="8595360" cy="347472"/>
          </a:xfrm>
          <a:prstGeom prst="rect">
            <a:avLst/>
          </a:prstGeom>
          <a:solidFill>
            <a:srgbClr val="0D2545"/>
          </a:solidFill>
          <a:ln w="12700">
            <a:solidFill>
              <a:srgbClr val="0D2545"/>
            </a:solidFill>
            <a:prstDash val="solid"/>
          </a:ln>
        </p:spPr>
        <p:txBody>
          <a:bodyPr/>
          <a:lstStyle/>
          <a:p>
            <a:endParaRPr lang="en-IN"/>
          </a:p>
        </p:txBody>
      </p:sp>
      <p:sp>
        <p:nvSpPr>
          <p:cNvPr id="17" name="Text 13"/>
          <p:cNvSpPr/>
          <p:nvPr/>
        </p:nvSpPr>
        <p:spPr>
          <a:xfrm>
            <a:off x="320040" y="2743200"/>
            <a:ext cx="85039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References</a:t>
            </a:r>
            <a:endParaRPr lang="en-US" sz="1300" dirty="0"/>
          </a:p>
        </p:txBody>
      </p:sp>
      <p:sp>
        <p:nvSpPr>
          <p:cNvPr id="18" name="Text 14"/>
          <p:cNvSpPr/>
          <p:nvPr/>
        </p:nvSpPr>
        <p:spPr>
          <a:xfrm>
            <a:off x="365760" y="3154680"/>
            <a:ext cx="8412480" cy="347472"/>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[1]  Smedsrud, P.H., et al. (2021). Kvasir-Capsule, a video capsule endoscopy dataset. Scientific Data, 8, 142.</a:t>
            </a:r>
            <a:endParaRPr lang="en-US" sz="1050" dirty="0"/>
          </a:p>
        </p:txBody>
      </p:sp>
      <p:sp>
        <p:nvSpPr>
          <p:cNvPr id="19" name="Text 15"/>
          <p:cNvSpPr/>
          <p:nvPr/>
        </p:nvSpPr>
        <p:spPr>
          <a:xfrm>
            <a:off x="365760" y="3529584"/>
            <a:ext cx="8412480" cy="347472"/>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[2]  Ma, J., et al. (2024). Segment Anything in Medical Images. Nature Communications, 15, 654. </a:t>
            </a:r>
            <a:endParaRPr lang="en-US" sz="1050" dirty="0"/>
          </a:p>
        </p:txBody>
      </p:sp>
      <p:sp>
        <p:nvSpPr>
          <p:cNvPr id="20" name="Text 16"/>
          <p:cNvSpPr/>
          <p:nvPr/>
        </p:nvSpPr>
        <p:spPr>
          <a:xfrm>
            <a:off x="365760" y="3904488"/>
            <a:ext cx="8412480" cy="347472"/>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[3]  Kirillov, A., et al. (2023). Segment Anything. Proceedings of ICCV 2023.</a:t>
            </a:r>
            <a:endParaRPr lang="en-US" sz="1050" dirty="0"/>
          </a:p>
        </p:txBody>
      </p:sp>
      <p:sp>
        <p:nvSpPr>
          <p:cNvPr id="21" name="Text 17"/>
          <p:cNvSpPr/>
          <p:nvPr/>
        </p:nvSpPr>
        <p:spPr>
          <a:xfrm>
            <a:off x="365760" y="4279392"/>
            <a:ext cx="8412480" cy="347472"/>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[4]  Radford, A., et al. (2021). Learning Transferable Visual Models From Natural Language Supervision. ICML 2021.</a:t>
            </a:r>
            <a:endParaRPr lang="en-US" sz="1050" dirty="0"/>
          </a:p>
        </p:txBody>
      </p:sp>
      <p:sp>
        <p:nvSpPr>
          <p:cNvPr id="22" name="Text 18"/>
          <p:cNvSpPr/>
          <p:nvPr/>
        </p:nvSpPr>
        <p:spPr>
          <a:xfrm>
            <a:off x="365760" y="4654296"/>
            <a:ext cx="8412480" cy="347472"/>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[5]  Li, J., et al. (2022). BLIP: Bootstrapping Language-Image Pre-training for Unified Vision-Language Understanding. ICML 2022.</a:t>
            </a:r>
            <a:endParaRPr lang="en-US" sz="1050" dirty="0"/>
          </a:p>
        </p:txBody>
      </p:sp>
      <p:sp>
        <p:nvSpPr>
          <p:cNvPr id="23" name="TextBox 22">
            <a:extLst>
              <a:ext uri="{FF2B5EF4-FFF2-40B4-BE49-F238E27FC236}">
                <a16:creationId xmlns:a16="http://schemas.microsoft.com/office/drawing/2014/main" id="{F76AA536-CC0D-FC4C-BDE9-B9602D3E8B4D}"/>
              </a:ext>
            </a:extLst>
          </p:cNvPr>
          <p:cNvSpPr txBox="1"/>
          <p:nvPr/>
        </p:nvSpPr>
        <p:spPr>
          <a:xfrm>
            <a:off x="4038964" y="14776"/>
            <a:ext cx="4579256" cy="307777"/>
          </a:xfrm>
          <a:prstGeom prst="rect">
            <a:avLst/>
          </a:prstGeom>
          <a:noFill/>
        </p:spPr>
        <p:txBody>
          <a:bodyPr wrap="square">
            <a:spAutoFit/>
          </a:bodyPr>
          <a:lstStyle/>
          <a:p>
            <a:r>
              <a:rPr lang="en-US" sz="1400" dirty="0">
                <a:solidFill>
                  <a:schemeClr val="bg1"/>
                </a:solidFill>
              </a:rPr>
              <a:t>Page 11</a:t>
            </a:r>
            <a:endParaRPr lang="en-IN" sz="140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545"/>
          </a:solidFill>
          <a:ln w="12700">
            <a:solidFill>
              <a:srgbClr val="0D2545"/>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164592" y="91440"/>
            <a:ext cx="777240" cy="777240"/>
          </a:xfrm>
          <a:prstGeom prst="rect">
            <a:avLst/>
          </a:prstGeom>
        </p:spPr>
      </p:pic>
      <p:pic>
        <p:nvPicPr>
          <p:cNvPr id="4" name="Image 1" descr="preencoded.png"/>
          <p:cNvPicPr>
            <a:picLocks noChangeAspect="1"/>
          </p:cNvPicPr>
          <p:nvPr/>
        </p:nvPicPr>
        <p:blipFill>
          <a:blip r:embed="rId4"/>
          <a:stretch>
            <a:fillRect/>
          </a:stretch>
        </p:blipFill>
        <p:spPr>
          <a:xfrm>
            <a:off x="8229600" y="91440"/>
            <a:ext cx="777240" cy="777240"/>
          </a:xfrm>
          <a:prstGeom prst="rect">
            <a:avLst/>
          </a:prstGeom>
        </p:spPr>
      </p:pic>
      <p:sp>
        <p:nvSpPr>
          <p:cNvPr id="5" name="Shape 1"/>
          <p:cNvSpPr/>
          <p:nvPr/>
        </p:nvSpPr>
        <p:spPr>
          <a:xfrm>
            <a:off x="1371600" y="1828800"/>
            <a:ext cx="6400800" cy="0"/>
          </a:xfrm>
          <a:prstGeom prst="line">
            <a:avLst/>
          </a:prstGeom>
          <a:noFill/>
          <a:ln w="25400">
            <a:solidFill>
              <a:srgbClr val="0E7490"/>
            </a:solidFill>
            <a:prstDash val="solid"/>
          </a:ln>
        </p:spPr>
        <p:txBody>
          <a:bodyPr/>
          <a:lstStyle/>
          <a:p>
            <a:endParaRPr lang="en-IN"/>
          </a:p>
        </p:txBody>
      </p:sp>
      <p:sp>
        <p:nvSpPr>
          <p:cNvPr id="6" name="Text 2"/>
          <p:cNvSpPr/>
          <p:nvPr/>
        </p:nvSpPr>
        <p:spPr>
          <a:xfrm>
            <a:off x="457200" y="1901952"/>
            <a:ext cx="8229600" cy="91440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7" name="Shape 3"/>
          <p:cNvSpPr/>
          <p:nvPr/>
        </p:nvSpPr>
        <p:spPr>
          <a:xfrm>
            <a:off x="1371600" y="2834640"/>
            <a:ext cx="6400800" cy="0"/>
          </a:xfrm>
          <a:prstGeom prst="line">
            <a:avLst/>
          </a:prstGeom>
          <a:noFill/>
          <a:ln w="25400">
            <a:solidFill>
              <a:srgbClr val="0E7490"/>
            </a:solidFill>
            <a:prstDash val="solid"/>
          </a:ln>
        </p:spPr>
        <p:txBody>
          <a:bodyPr/>
          <a:lstStyle/>
          <a:p>
            <a:endParaRPr lang="en-IN"/>
          </a:p>
        </p:txBody>
      </p:sp>
      <p:sp>
        <p:nvSpPr>
          <p:cNvPr id="8" name="Text 4"/>
          <p:cNvSpPr/>
          <p:nvPr/>
        </p:nvSpPr>
        <p:spPr>
          <a:xfrm>
            <a:off x="457200" y="2926080"/>
            <a:ext cx="822960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Neil Lohit Bose  ·  Ishan Jha</a:t>
            </a:r>
            <a:endParaRPr lang="en-US" sz="1600" dirty="0"/>
          </a:p>
        </p:txBody>
      </p:sp>
      <p:sp>
        <p:nvSpPr>
          <p:cNvPr id="9" name="Text 5"/>
          <p:cNvSpPr/>
          <p:nvPr/>
        </p:nvSpPr>
        <p:spPr>
          <a:xfrm>
            <a:off x="457200" y="3383280"/>
            <a:ext cx="8229600" cy="347472"/>
          </a:xfrm>
          <a:prstGeom prst="rect">
            <a:avLst/>
          </a:prstGeom>
          <a:noFill/>
          <a:ln/>
        </p:spPr>
        <p:txBody>
          <a:bodyPr wrap="square" rtlCol="0" anchor="ctr"/>
          <a:lstStyle/>
          <a:p>
            <a:pPr marL="0" indent="0" algn="ctr">
              <a:buNone/>
            </a:pPr>
            <a:r>
              <a:rPr lang="en-US" sz="1400" i="1" dirty="0">
                <a:solidFill>
                  <a:srgbClr val="94A3B8"/>
                </a:solidFill>
                <a:latin typeface="Calibri" pitchFamily="34" charset="0"/>
                <a:ea typeface="Calibri" pitchFamily="34" charset="-122"/>
                <a:cs typeface="Calibri" pitchFamily="34" charset="-120"/>
              </a:rPr>
              <a:t>Mentor: Dr. Sujoy K Biswas</a:t>
            </a:r>
            <a:endParaRPr lang="en-US" sz="1400" dirty="0"/>
          </a:p>
        </p:txBody>
      </p:sp>
      <p:sp>
        <p:nvSpPr>
          <p:cNvPr id="10" name="Text 6"/>
          <p:cNvSpPr/>
          <p:nvPr/>
        </p:nvSpPr>
        <p:spPr>
          <a:xfrm>
            <a:off x="457200" y="3840480"/>
            <a:ext cx="8229600" cy="320040"/>
          </a:xfrm>
          <a:prstGeom prst="rect">
            <a:avLst/>
          </a:prstGeom>
          <a:noFill/>
          <a:ln/>
        </p:spPr>
        <p:txBody>
          <a:bodyPr wrap="square"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IDEAS — Institute of Data Engineering, Analytics and Science Foundation  |  ISI Kolkata</a:t>
            </a:r>
            <a:endParaRPr lang="en-US" sz="1200" dirty="0"/>
          </a:p>
        </p:txBody>
      </p:sp>
      <p:sp>
        <p:nvSpPr>
          <p:cNvPr id="11" name="Shape 7"/>
          <p:cNvSpPr/>
          <p:nvPr/>
        </p:nvSpPr>
        <p:spPr>
          <a:xfrm>
            <a:off x="0" y="4800600"/>
            <a:ext cx="9144000" cy="342900"/>
          </a:xfrm>
          <a:prstGeom prst="rect">
            <a:avLst/>
          </a:prstGeom>
          <a:solidFill>
            <a:srgbClr val="0E7490"/>
          </a:solidFill>
          <a:ln w="12700">
            <a:solidFill>
              <a:srgbClr val="0E7490"/>
            </a:solidFill>
            <a:prstDash val="solid"/>
          </a:ln>
        </p:spPr>
        <p:txBody>
          <a:bodyPr/>
          <a:lstStyle/>
          <a:p>
            <a:endParaRPr lang="en-IN"/>
          </a:p>
        </p:txBody>
      </p:sp>
      <p:sp>
        <p:nvSpPr>
          <p:cNvPr id="12" name="Text 8"/>
          <p:cNvSpPr/>
          <p:nvPr/>
        </p:nvSpPr>
        <p:spPr>
          <a:xfrm>
            <a:off x="182880" y="4800600"/>
            <a:ext cx="8778240" cy="34290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Benchmarking Foundation Models for Capsule Endoscopy Lesion Detection and Segmentation  ·  January–March 2026</a:t>
            </a:r>
            <a:endParaRPr lang="en-US" sz="950" dirty="0"/>
          </a:p>
        </p:txBody>
      </p:sp>
      <p:sp>
        <p:nvSpPr>
          <p:cNvPr id="13" name="TextBox 12">
            <a:extLst>
              <a:ext uri="{FF2B5EF4-FFF2-40B4-BE49-F238E27FC236}">
                <a16:creationId xmlns:a16="http://schemas.microsoft.com/office/drawing/2014/main" id="{9D2A325D-1D39-E000-4C2B-399C780C3DF4}"/>
              </a:ext>
            </a:extLst>
          </p:cNvPr>
          <p:cNvSpPr txBox="1"/>
          <p:nvPr/>
        </p:nvSpPr>
        <p:spPr>
          <a:xfrm>
            <a:off x="4038964" y="14776"/>
            <a:ext cx="4579256" cy="307777"/>
          </a:xfrm>
          <a:prstGeom prst="rect">
            <a:avLst/>
          </a:prstGeom>
          <a:noFill/>
        </p:spPr>
        <p:txBody>
          <a:bodyPr wrap="square">
            <a:spAutoFit/>
          </a:bodyPr>
          <a:lstStyle/>
          <a:p>
            <a:r>
              <a:rPr lang="en-US" sz="1400">
                <a:solidFill>
                  <a:schemeClr val="bg1"/>
                </a:solidFill>
              </a:rPr>
              <a:t>Page 12</a:t>
            </a:r>
            <a:endParaRPr lang="en-IN" sz="14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803</TotalTime>
  <Words>1692</Words>
  <Application>Microsoft Office PowerPoint</Application>
  <PresentationFormat>On-screen Show (16:9)</PresentationFormat>
  <Paragraphs>308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Benchmarking Foundation Models for Capsule Endoscopy</dc:title>
  <dc:subject>PptxGenJS Presentation</dc:subject>
  <dc:creator>PptxGenJS</dc:creator>
  <cp:lastModifiedBy>Ishan Jha</cp:lastModifiedBy>
  <cp:revision>18</cp:revision>
  <dcterms:created xsi:type="dcterms:W3CDTF">2026-03-30T13:33:02Z</dcterms:created>
  <dcterms:modified xsi:type="dcterms:W3CDTF">2026-04-01T03:31:28Z</dcterms:modified>
</cp:coreProperties>
</file>